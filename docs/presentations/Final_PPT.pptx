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6" r:id="rId1"/>
  </p:sldMasterIdLst>
  <p:sldIdLst>
    <p:sldId id="309" r:id="rId2"/>
    <p:sldId id="257" r:id="rId3"/>
    <p:sldId id="258" r:id="rId4"/>
    <p:sldId id="292" r:id="rId5"/>
    <p:sldId id="293" r:id="rId6"/>
    <p:sldId id="294" r:id="rId7"/>
    <p:sldId id="259" r:id="rId8"/>
    <p:sldId id="263" r:id="rId9"/>
    <p:sldId id="264" r:id="rId10"/>
    <p:sldId id="280" r:id="rId11"/>
    <p:sldId id="284" r:id="rId12"/>
    <p:sldId id="272" r:id="rId13"/>
    <p:sldId id="283" r:id="rId14"/>
    <p:sldId id="307" r:id="rId15"/>
    <p:sldId id="287" r:id="rId16"/>
    <p:sldId id="288" r:id="rId17"/>
    <p:sldId id="290" r:id="rId18"/>
    <p:sldId id="289" r:id="rId19"/>
    <p:sldId id="296" r:id="rId20"/>
    <p:sldId id="303" r:id="rId21"/>
    <p:sldId id="297" r:id="rId22"/>
    <p:sldId id="298" r:id="rId23"/>
    <p:sldId id="299" r:id="rId24"/>
    <p:sldId id="310" r:id="rId25"/>
    <p:sldId id="311" r:id="rId26"/>
    <p:sldId id="312" r:id="rId27"/>
    <p:sldId id="313" r:id="rId28"/>
    <p:sldId id="274" r:id="rId29"/>
    <p:sldId id="304" r:id="rId30"/>
    <p:sldId id="305" r:id="rId31"/>
    <p:sldId id="278" r:id="rId32"/>
    <p:sldId id="308" r:id="rId3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485" autoAdjust="0"/>
    <p:restoredTop sz="93981" autoAdjust="0"/>
  </p:normalViewPr>
  <p:slideViewPr>
    <p:cSldViewPr snapToGrid="0" snapToObjects="1">
      <p:cViewPr varScale="1">
        <p:scale>
          <a:sx n="69" d="100"/>
          <a:sy n="69" d="100"/>
        </p:scale>
        <p:origin x="1662" y="60"/>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3192"/>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516624"/>
            <a:ext cx="7315200" cy="2595025"/>
          </a:xfrm>
        </p:spPr>
        <p:txBody>
          <a:bodyPr>
            <a:normAutofit/>
          </a:bodyPr>
          <a:lstStyle>
            <a:lvl1pPr>
              <a:defRPr sz="4800"/>
            </a:lvl1pPr>
          </a:lstStyle>
          <a:p>
            <a:r>
              <a:rPr lang="en-US" smtClean="0"/>
              <a:t>Click to edit Master title style</a:t>
            </a:r>
            <a:endParaRPr lang="en-US"/>
          </a:p>
        </p:txBody>
      </p:sp>
      <p:sp>
        <p:nvSpPr>
          <p:cNvPr id="3" name="Subtitle 2"/>
          <p:cNvSpPr>
            <a:spLocks noGrp="1"/>
          </p:cNvSpPr>
          <p:nvPr>
            <p:ph type="subTitle" idx="1"/>
          </p:nvPr>
        </p:nvSpPr>
        <p:spPr>
          <a:xfrm>
            <a:off x="914400" y="5166530"/>
            <a:ext cx="7315200" cy="1144632"/>
          </a:xfrm>
        </p:spPr>
        <p:txBody>
          <a:bodyPr>
            <a:normAutofit/>
          </a:bodyPr>
          <a:lstStyle>
            <a:lvl1pPr marL="0" indent="0" algn="l">
              <a:buNone/>
              <a:defRPr sz="22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pPr/>
              <a:t>6/14/2021</a:t>
            </a:fld>
            <a:endParaRPr lang="en-US"/>
          </a:p>
        </p:txBody>
      </p:sp>
      <p:sp>
        <p:nvSpPr>
          <p:cNvPr id="8" name="Slide Number Placeholder 7"/>
          <p:cNvSpPr>
            <a:spLocks noGrp="1"/>
          </p:cNvSpPr>
          <p:nvPr>
            <p:ph type="sldNum" sz="quarter" idx="11"/>
          </p:nvPr>
        </p:nvSpPr>
        <p:spPr/>
        <p:txBody>
          <a:bodyPr/>
          <a:lstStyle/>
          <a:p>
            <a:fld id="{C1FF6DA9-008F-8B48-92A6-B652298478BF}" type="slidenum">
              <a:rPr lang="en-US" smtClean="0"/>
              <a:pPr/>
              <a:t>‹#›</a:t>
            </a:fld>
            <a:endParaRPr lang="en-US"/>
          </a:p>
        </p:txBody>
      </p:sp>
      <p:sp>
        <p:nvSpPr>
          <p:cNvPr id="9" name="Footer Placeholder 8"/>
          <p:cNvSpPr>
            <a:spLocks noGrp="1"/>
          </p:cNvSpPr>
          <p:nvPr>
            <p:ph type="ftr" sz="quarter" idx="12"/>
          </p:nvPr>
        </p:nvSpPr>
        <p:spPr/>
        <p:txBody>
          <a:bodyPr/>
          <a:lstStyle/>
          <a:p>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pPr/>
              <a:t>6/14/2021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14400" y="5017572"/>
            <a:ext cx="7315200" cy="1293592"/>
          </a:xfrm>
        </p:spPr>
        <p:txBody>
          <a:bodyPr anchor="t"/>
          <a:lstStyle>
            <a:lvl1pPr algn="l">
              <a:defRPr sz="4000" b="0" cap="none"/>
            </a:lvl1pPr>
          </a:lstStyle>
          <a:p>
            <a:r>
              <a:rPr lang="en-US" smtClean="0"/>
              <a:t>Click to edit Master title style</a:t>
            </a:r>
            <a:endParaRPr lang="en-US"/>
          </a:p>
        </p:txBody>
      </p:sp>
      <p:sp>
        <p:nvSpPr>
          <p:cNvPr id="3" name="Text Placeholder 2"/>
          <p:cNvSpPr>
            <a:spLocks noGrp="1"/>
          </p:cNvSpPr>
          <p:nvPr>
            <p:ph type="body" idx="1"/>
          </p:nvPr>
        </p:nvSpPr>
        <p:spPr>
          <a:xfrm>
            <a:off x="914400" y="3865097"/>
            <a:ext cx="7315200" cy="1098439"/>
          </a:xfrm>
        </p:spPr>
        <p:txBody>
          <a:bodyPr anchor="b"/>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pPr/>
              <a:t>6/14/2021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5BCAD085-E8A6-8845-BD4E-CB4CCA059FC4}" type="datetimeFigureOut">
              <a:rPr lang="en-US" smtClean="0"/>
              <a:pPr/>
              <a:t>6/14/2021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pPr/>
              <a:t>‹#›</a:t>
            </a:fld>
            <a:endParaRPr lang="en-US"/>
          </a:p>
        </p:txBody>
      </p:sp>
      <p:sp>
        <p:nvSpPr>
          <p:cNvPr id="9" name="Title 8"/>
          <p:cNvSpPr>
            <a:spLocks noGrp="1"/>
          </p:cNvSpPr>
          <p:nvPr>
            <p:ph type="title"/>
          </p:nvPr>
        </p:nvSpPr>
        <p:spPr>
          <a:xfrm>
            <a:off x="914400" y="1544715"/>
            <a:ext cx="7315200" cy="1154097"/>
          </a:xfrm>
        </p:spPr>
        <p:txBody>
          <a:bodyPr/>
          <a:lstStyle/>
          <a:p>
            <a:r>
              <a:rPr lang="en-US" smtClean="0"/>
              <a:t>Click to edit Master title style</a:t>
            </a:r>
            <a:endParaRPr lang="en-US"/>
          </a:p>
        </p:txBody>
      </p:sp>
      <p:sp>
        <p:nvSpPr>
          <p:cNvPr id="8" name="Content Placeholder 7"/>
          <p:cNvSpPr>
            <a:spLocks noGrp="1"/>
          </p:cNvSpPr>
          <p:nvPr>
            <p:ph sz="quarter" idx="13"/>
          </p:nvPr>
        </p:nvSpPr>
        <p:spPr>
          <a:xfrm>
            <a:off x="914400" y="2743200"/>
            <a:ext cx="3566160" cy="359359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1" name="Content Placeholder 10"/>
          <p:cNvSpPr>
            <a:spLocks noGrp="1"/>
          </p:cNvSpPr>
          <p:nvPr>
            <p:ph sz="quarter" idx="14"/>
          </p:nvPr>
        </p:nvSpPr>
        <p:spPr>
          <a:xfrm>
            <a:off x="4681728" y="2743200"/>
            <a:ext cx="3566160" cy="359568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16348" y="2743200"/>
            <a:ext cx="3364992" cy="621792"/>
          </a:xfrm>
        </p:spPr>
        <p:txBody>
          <a:bodyPr anchor="b">
            <a:noAutofit/>
          </a:bodyPr>
          <a:lstStyle>
            <a:lvl1pPr marL="0" indent="0">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5" name="Text Placeholder 4"/>
          <p:cNvSpPr>
            <a:spLocks noGrp="1"/>
          </p:cNvSpPr>
          <p:nvPr>
            <p:ph type="body" sz="quarter" idx="3"/>
          </p:nvPr>
        </p:nvSpPr>
        <p:spPr>
          <a:xfrm>
            <a:off x="4885144" y="2743200"/>
            <a:ext cx="3362062" cy="621792"/>
          </a:xfrm>
        </p:spPr>
        <p:txBody>
          <a:bodyPr anchor="b">
            <a:noAutofit/>
          </a:bodyPr>
          <a:lstStyle>
            <a:lvl1pPr marL="0" indent="0">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7" name="Date Placeholder 6"/>
          <p:cNvSpPr>
            <a:spLocks noGrp="1"/>
          </p:cNvSpPr>
          <p:nvPr>
            <p:ph type="dt" sz="half" idx="10"/>
          </p:nvPr>
        </p:nvSpPr>
        <p:spPr/>
        <p:txBody>
          <a:bodyPr/>
          <a:lstStyle/>
          <a:p>
            <a:fld id="{5BCAD085-E8A6-8845-BD4E-CB4CCA059FC4}" type="datetimeFigureOut">
              <a:rPr lang="en-US" smtClean="0"/>
              <a:pPr/>
              <a:t>6/14/2021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pPr/>
              <a:t>‹#›</a:t>
            </a:fld>
            <a:endParaRPr lang="en-US"/>
          </a:p>
        </p:txBody>
      </p:sp>
      <p:sp>
        <p:nvSpPr>
          <p:cNvPr id="10" name="Title 9"/>
          <p:cNvSpPr>
            <a:spLocks noGrp="1"/>
          </p:cNvSpPr>
          <p:nvPr>
            <p:ph type="title"/>
          </p:nvPr>
        </p:nvSpPr>
        <p:spPr>
          <a:xfrm>
            <a:off x="914400" y="1544715"/>
            <a:ext cx="7315200" cy="1154097"/>
          </a:xfrm>
        </p:spPr>
        <p:txBody>
          <a:bodyPr/>
          <a:lstStyle/>
          <a:p>
            <a:r>
              <a:rPr lang="en-US" smtClean="0"/>
              <a:t>Click to edit Master title style</a:t>
            </a:r>
            <a:endParaRPr lang="en-US" dirty="0"/>
          </a:p>
        </p:txBody>
      </p:sp>
      <p:sp>
        <p:nvSpPr>
          <p:cNvPr id="11" name="Content Placeholder 10"/>
          <p:cNvSpPr>
            <a:spLocks noGrp="1"/>
          </p:cNvSpPr>
          <p:nvPr>
            <p:ph sz="quarter" idx="13"/>
          </p:nvPr>
        </p:nvSpPr>
        <p:spPr>
          <a:xfrm>
            <a:off x="914400" y="3383280"/>
            <a:ext cx="3566160" cy="295351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3" name="Content Placeholder 12"/>
          <p:cNvSpPr>
            <a:spLocks noGrp="1"/>
          </p:cNvSpPr>
          <p:nvPr>
            <p:ph sz="quarter" idx="14"/>
          </p:nvPr>
        </p:nvSpPr>
        <p:spPr>
          <a:xfrm>
            <a:off x="4681727" y="3383280"/>
            <a:ext cx="3566160" cy="295351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pPr/>
              <a:t>6/14/2021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pPr/>
              <a:t>6/14/2021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1825362"/>
            <a:ext cx="2950936" cy="2173015"/>
          </a:xfrm>
        </p:spPr>
        <p:txBody>
          <a:bodyPr anchor="b">
            <a:normAutofit/>
          </a:bodyPr>
          <a:lstStyle>
            <a:lvl1pPr algn="l">
              <a:defRPr sz="2800" b="0"/>
            </a:lvl1pPr>
          </a:lstStyle>
          <a:p>
            <a:r>
              <a:rPr lang="en-US" smtClean="0"/>
              <a:t>Click to edit Master title style</a:t>
            </a:r>
            <a:endParaRPr lang="en-US" dirty="0"/>
          </a:p>
        </p:txBody>
      </p:sp>
      <p:sp>
        <p:nvSpPr>
          <p:cNvPr id="3" name="Content Placeholder 2"/>
          <p:cNvSpPr>
            <a:spLocks noGrp="1"/>
          </p:cNvSpPr>
          <p:nvPr>
            <p:ph idx="1"/>
          </p:nvPr>
        </p:nvSpPr>
        <p:spPr>
          <a:xfrm>
            <a:off x="4021752" y="1826709"/>
            <a:ext cx="4207848" cy="4476614"/>
          </a:xfrm>
        </p:spPr>
        <p:txBody>
          <a:bodyPr anchor="ct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914400" y="4061095"/>
            <a:ext cx="2950936" cy="224538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pPr/>
              <a:t>6/14/2021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1828800"/>
            <a:ext cx="2953512" cy="2176272"/>
          </a:xfrm>
        </p:spPr>
        <p:txBody>
          <a:bodyPr anchor="b">
            <a:normAutofit/>
          </a:bodyPr>
          <a:lstStyle>
            <a:lvl1pPr algn="l">
              <a:defRPr sz="2800" b="0"/>
            </a:lvl1pPr>
          </a:lstStyle>
          <a:p>
            <a:r>
              <a:rPr lang="en-US" smtClean="0"/>
              <a:t>Click to edit Master title style</a:t>
            </a:r>
            <a:endParaRPr lang="en-US" dirty="0"/>
          </a:p>
        </p:txBody>
      </p:sp>
      <p:sp>
        <p:nvSpPr>
          <p:cNvPr id="3" name="Picture Placeholder 2"/>
          <p:cNvSpPr>
            <a:spLocks noGrp="1"/>
          </p:cNvSpPr>
          <p:nvPr>
            <p:ph type="pic" idx="1"/>
          </p:nvPr>
        </p:nvSpPr>
        <p:spPr>
          <a:xfrm>
            <a:off x="4191000" y="2286000"/>
            <a:ext cx="4038600" cy="3352800"/>
          </a:xfrm>
          <a:solidFill>
            <a:schemeClr val="accent2"/>
          </a:solidFill>
          <a:ln w="12700">
            <a:noFill/>
          </a:ln>
          <a:effectLst>
            <a:reflection blurRad="12700" stA="30000" endPos="30000" dist="31750" dir="5400000" sy="-100000" algn="bl" rotWithShape="0"/>
          </a:effectLst>
          <a:scene3d>
            <a:camera prst="perspectiveRight" fov="2700000">
              <a:rot lat="240000" lon="900000" rev="0"/>
            </a:camera>
            <a:lightRig rig="threePt" dir="t">
              <a:rot lat="0" lon="0" rev="2700000"/>
            </a:lightRig>
          </a:scene3d>
          <a:sp3d/>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914400" y="4059936"/>
            <a:ext cx="2953512" cy="2249424"/>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pPr/>
              <a:t>6/14/2021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pPr/>
              <a:t>6/14/2021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48400" y="1826709"/>
            <a:ext cx="1492499" cy="4484454"/>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54524" y="1826709"/>
            <a:ext cx="5241476" cy="448445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pPr/>
              <a:t>6/14/2021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10" name="Rectangle 9"/>
          <p:cNvSpPr/>
          <p:nvPr/>
        </p:nvSpPr>
        <p:spPr>
          <a:xfrm>
            <a:off x="8435268" y="573807"/>
            <a:ext cx="86236" cy="5723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8569419" y="573807"/>
            <a:ext cx="576072" cy="5723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914400" y="1544715"/>
            <a:ext cx="7315200" cy="115409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914400" y="2769833"/>
            <a:ext cx="7315200" cy="3539527"/>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2"/>
          </p:nvPr>
        </p:nvSpPr>
        <p:spPr>
          <a:xfrm>
            <a:off x="6007690" y="548797"/>
            <a:ext cx="1189132" cy="297918"/>
          </a:xfrm>
          <a:prstGeom prst="rect">
            <a:avLst/>
          </a:prstGeom>
        </p:spPr>
        <p:txBody>
          <a:bodyPr vert="horz" lIns="91440" tIns="45720" rIns="91440" bIns="45720" rtlCol="0" anchor="ctr"/>
          <a:lstStyle>
            <a:lvl1pPr algn="l">
              <a:defRPr sz="1200">
                <a:solidFill>
                  <a:schemeClr val="tx1">
                    <a:alpha val="50000"/>
                  </a:schemeClr>
                </a:solidFill>
              </a:defRPr>
            </a:lvl1pPr>
          </a:lstStyle>
          <a:p>
            <a:fld id="{5BCAD085-E8A6-8845-BD4E-CB4CCA059FC4}" type="datetimeFigureOut">
              <a:rPr lang="en-US" smtClean="0"/>
              <a:pPr/>
              <a:t>6/14/2021</a:t>
            </a:fld>
            <a:endParaRPr lang="en-US"/>
          </a:p>
        </p:txBody>
      </p:sp>
      <p:sp>
        <p:nvSpPr>
          <p:cNvPr id="6" name="Slide Number Placeholder 5"/>
          <p:cNvSpPr>
            <a:spLocks noGrp="1"/>
          </p:cNvSpPr>
          <p:nvPr>
            <p:ph type="sldNum" sz="quarter" idx="4"/>
          </p:nvPr>
        </p:nvSpPr>
        <p:spPr>
          <a:xfrm>
            <a:off x="7314415" y="548797"/>
            <a:ext cx="941203" cy="301752"/>
          </a:xfrm>
          <a:prstGeom prst="rect">
            <a:avLst/>
          </a:prstGeom>
        </p:spPr>
        <p:txBody>
          <a:bodyPr vert="horz" lIns="91440" tIns="45720" rIns="91440" bIns="45720" rtlCol="0" anchor="ctr"/>
          <a:lstStyle>
            <a:lvl1pPr algn="r">
              <a:defRPr sz="1200">
                <a:solidFill>
                  <a:schemeClr val="tx1"/>
                </a:solidFill>
              </a:defRPr>
            </a:lvl1pPr>
          </a:lstStyle>
          <a:p>
            <a:fld id="{C1FF6DA9-008F-8B48-92A6-B652298478BF}" type="slidenum">
              <a:rPr lang="en-US" smtClean="0"/>
              <a:pPr/>
              <a:t>‹#›</a:t>
            </a:fld>
            <a:endParaRPr lang="en-US"/>
          </a:p>
        </p:txBody>
      </p:sp>
      <p:sp>
        <p:nvSpPr>
          <p:cNvPr id="5" name="Footer Placeholder 4"/>
          <p:cNvSpPr>
            <a:spLocks noGrp="1"/>
          </p:cNvSpPr>
          <p:nvPr>
            <p:ph type="ftr" sz="quarter" idx="3"/>
          </p:nvPr>
        </p:nvSpPr>
        <p:spPr>
          <a:xfrm>
            <a:off x="6008688" y="855956"/>
            <a:ext cx="2246489" cy="301227"/>
          </a:xfrm>
          <a:prstGeom prst="rect">
            <a:avLst/>
          </a:prstGeom>
        </p:spPr>
        <p:txBody>
          <a:bodyPr vert="horz" lIns="91440" tIns="0" rIns="91440" bIns="45720" rtlCol="0" anchor="t"/>
          <a:lstStyle>
            <a:lvl1pPr algn="l">
              <a:defRPr sz="1000">
                <a:solidFill>
                  <a:schemeClr val="tx1"/>
                </a:solidFill>
              </a:defRPr>
            </a:lvl1pPr>
          </a:lstStyle>
          <a:p>
            <a:endParaRPr lang="en-US"/>
          </a:p>
        </p:txBody>
      </p:sp>
    </p:spTree>
  </p:cSld>
  <p:clrMap bg1="dk1" tx1="lt1" bg2="dk2" tx2="lt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spcBef>
          <a:spcPct val="0"/>
        </a:spcBef>
        <a:buNone/>
        <a:defRPr sz="400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182880" algn="l" defTabSz="914400" rtl="0" eaLnBrk="1" latinLnBrk="0" hangingPunct="1">
        <a:spcBef>
          <a:spcPct val="20000"/>
        </a:spcBef>
        <a:buClr>
          <a:schemeClr val="tx2"/>
        </a:buClr>
        <a:buFont typeface="Wingdings" charset="2"/>
        <a:buChar char="§"/>
        <a:defRPr sz="2000" kern="1200">
          <a:solidFill>
            <a:schemeClr val="tx1"/>
          </a:solidFill>
          <a:latin typeface="+mn-lt"/>
          <a:ea typeface="+mn-ea"/>
          <a:cs typeface="+mn-cs"/>
        </a:defRPr>
      </a:lvl1pPr>
      <a:lvl2pPr marL="502920" indent="-182880" algn="l" defTabSz="914400" rtl="0" eaLnBrk="1" latinLnBrk="0" hangingPunct="1">
        <a:spcBef>
          <a:spcPct val="20000"/>
        </a:spcBef>
        <a:buClr>
          <a:schemeClr val="tx2"/>
        </a:buClr>
        <a:buFont typeface="Wingdings" charset="2"/>
        <a:buChar char="§"/>
        <a:defRPr sz="1800" kern="1200">
          <a:solidFill>
            <a:schemeClr val="tx1"/>
          </a:solidFill>
          <a:latin typeface="+mn-lt"/>
          <a:ea typeface="+mn-ea"/>
          <a:cs typeface="+mn-cs"/>
        </a:defRPr>
      </a:lvl2pPr>
      <a:lvl3pPr marL="685800" indent="-182880" algn="l" defTabSz="914400" rtl="0" eaLnBrk="1" latinLnBrk="0" hangingPunct="1">
        <a:spcBef>
          <a:spcPct val="20000"/>
        </a:spcBef>
        <a:buClr>
          <a:schemeClr val="tx2"/>
        </a:buClr>
        <a:buFont typeface="Wingdings" charset="2"/>
        <a:buChar char="§"/>
        <a:defRPr sz="1600" kern="1200">
          <a:solidFill>
            <a:schemeClr val="tx1"/>
          </a:solidFill>
          <a:latin typeface="+mn-lt"/>
          <a:ea typeface="+mn-ea"/>
          <a:cs typeface="+mn-cs"/>
        </a:defRPr>
      </a:lvl3pPr>
      <a:lvl4pPr marL="914400" indent="-182880" algn="l" defTabSz="914400" rtl="0" eaLnBrk="1" latinLnBrk="0" hangingPunct="1">
        <a:spcBef>
          <a:spcPct val="20000"/>
        </a:spcBef>
        <a:buClr>
          <a:schemeClr val="tx2"/>
        </a:buClr>
        <a:buFont typeface="Wingdings" charset="2"/>
        <a:buChar char="§"/>
        <a:defRPr sz="1400" kern="1200">
          <a:solidFill>
            <a:schemeClr val="tx1"/>
          </a:solidFill>
          <a:latin typeface="+mn-lt"/>
          <a:ea typeface="+mn-ea"/>
          <a:cs typeface="+mn-cs"/>
        </a:defRPr>
      </a:lvl4pPr>
      <a:lvl5pPr marL="1143000" indent="-182880" algn="l" defTabSz="914400" rtl="0" eaLnBrk="1" latinLnBrk="0" hangingPunct="1">
        <a:spcBef>
          <a:spcPct val="20000"/>
        </a:spcBef>
        <a:buClr>
          <a:schemeClr val="tx2"/>
        </a:buClr>
        <a:buFont typeface="Wingdings" charset="2"/>
        <a:buChar char="§"/>
        <a:defRPr sz="1400" kern="1200">
          <a:solidFill>
            <a:schemeClr val="tx1"/>
          </a:solidFill>
          <a:latin typeface="+mn-lt"/>
          <a:ea typeface="+mn-ea"/>
          <a:cs typeface="+mn-cs"/>
        </a:defRPr>
      </a:lvl5pPr>
      <a:lvl6pPr marL="13716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6pPr>
      <a:lvl7pPr marL="16002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7pPr>
      <a:lvl8pPr marL="18288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8pPr>
      <a:lvl9pPr marL="20574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CustomShape 1"/>
          <p:cNvSpPr/>
          <p:nvPr/>
        </p:nvSpPr>
        <p:spPr>
          <a:xfrm>
            <a:off x="311760" y="0"/>
            <a:ext cx="8519760" cy="1320000"/>
          </a:xfrm>
          <a:prstGeom prst="rect">
            <a:avLst/>
          </a:prstGeom>
          <a:noFill/>
          <a:ln>
            <a:noFill/>
          </a:ln>
        </p:spPr>
        <p:txBody>
          <a:bodyPr lIns="90000" tIns="91440" rIns="90000" bIns="91440"/>
          <a:lstStyle/>
          <a:p>
            <a:pPr algn="ctr"/>
            <a:r>
              <a:rPr lang="en-US" b="1" dirty="0">
                <a:solidFill>
                  <a:srgbClr val="31B031"/>
                </a:solidFill>
                <a:latin typeface="Times New Roman"/>
                <a:ea typeface="Times New Roman"/>
              </a:rPr>
              <a:t>Sinhgad Technical Education Society’s </a:t>
            </a:r>
            <a:endParaRPr dirty="0"/>
          </a:p>
          <a:p>
            <a:pPr algn="ctr"/>
            <a:r>
              <a:rPr lang="en-US" sz="1900" b="1" dirty="0">
                <a:solidFill>
                  <a:srgbClr val="31B031"/>
                </a:solidFill>
                <a:latin typeface="Times New Roman"/>
                <a:ea typeface="Times New Roman"/>
              </a:rPr>
              <a:t>SINHGAD COLLEGE OF ENGINEERING, Pune-41 </a:t>
            </a:r>
            <a:endParaRPr dirty="0"/>
          </a:p>
          <a:p>
            <a:pPr algn="ctr">
              <a:lnSpc>
                <a:spcPct val="150000"/>
              </a:lnSpc>
            </a:pPr>
            <a:r>
              <a:rPr lang="en-US" sz="1900" b="1" dirty="0">
                <a:solidFill>
                  <a:srgbClr val="31B031"/>
                </a:solidFill>
                <a:latin typeface="Times New Roman"/>
                <a:ea typeface="Times New Roman"/>
              </a:rPr>
              <a:t>Department of Information Technology</a:t>
            </a:r>
            <a:endParaRPr dirty="0"/>
          </a:p>
        </p:txBody>
      </p:sp>
      <p:sp>
        <p:nvSpPr>
          <p:cNvPr id="74" name="CustomShape 2"/>
          <p:cNvSpPr/>
          <p:nvPr/>
        </p:nvSpPr>
        <p:spPr>
          <a:xfrm>
            <a:off x="311760" y="1816800"/>
            <a:ext cx="8519760" cy="4754880"/>
          </a:xfrm>
          <a:prstGeom prst="rect">
            <a:avLst/>
          </a:prstGeom>
          <a:noFill/>
          <a:ln>
            <a:noFill/>
          </a:ln>
        </p:spPr>
        <p:txBody>
          <a:bodyPr lIns="90000" tIns="91440" rIns="90000" bIns="91440"/>
          <a:lstStyle/>
          <a:p>
            <a:pPr algn="ctr">
              <a:lnSpc>
                <a:spcPct val="115000"/>
              </a:lnSpc>
            </a:pPr>
            <a:r>
              <a:rPr lang="en-US" sz="3600" b="1" dirty="0" smtClean="0">
                <a:latin typeface="Times New Roman"/>
              </a:rPr>
              <a:t>Final project review</a:t>
            </a:r>
            <a:endParaRPr sz="2400" dirty="0"/>
          </a:p>
          <a:p>
            <a:pPr algn="ctr">
              <a:lnSpc>
                <a:spcPct val="115000"/>
              </a:lnSpc>
            </a:pPr>
            <a:endParaRPr sz="2400" dirty="0"/>
          </a:p>
          <a:p>
            <a:pPr algn="ctr">
              <a:lnSpc>
                <a:spcPct val="150000"/>
              </a:lnSpc>
            </a:pPr>
            <a:r>
              <a:rPr lang="en-US" sz="2800" dirty="0">
                <a:latin typeface="Times New Roman"/>
                <a:ea typeface="Times New Roman"/>
              </a:rPr>
              <a:t>Presented By </a:t>
            </a:r>
            <a:endParaRPr sz="2400" dirty="0"/>
          </a:p>
          <a:p>
            <a:pPr algn="ctr">
              <a:lnSpc>
                <a:spcPct val="115000"/>
              </a:lnSpc>
            </a:pPr>
            <a:r>
              <a:rPr lang="en-US" sz="2000" b="1" dirty="0">
                <a:latin typeface="Times New Roman"/>
                <a:ea typeface="Times New Roman"/>
              </a:rPr>
              <a:t>Asmita Nalawade</a:t>
            </a:r>
            <a:endParaRPr sz="1600" dirty="0"/>
          </a:p>
          <a:p>
            <a:pPr algn="ctr">
              <a:lnSpc>
                <a:spcPct val="115000"/>
              </a:lnSpc>
            </a:pPr>
            <a:r>
              <a:rPr lang="en-US" sz="2000" b="1" dirty="0" err="1">
                <a:latin typeface="Times New Roman"/>
                <a:ea typeface="Times New Roman"/>
              </a:rPr>
              <a:t>Shraddha</a:t>
            </a:r>
            <a:r>
              <a:rPr lang="en-US" sz="2000" b="1" dirty="0">
                <a:latin typeface="Times New Roman"/>
                <a:ea typeface="Times New Roman"/>
              </a:rPr>
              <a:t> </a:t>
            </a:r>
            <a:r>
              <a:rPr lang="en-US" sz="2000" b="1" dirty="0" err="1">
                <a:latin typeface="Times New Roman"/>
                <a:ea typeface="Times New Roman"/>
              </a:rPr>
              <a:t>Agre</a:t>
            </a:r>
            <a:endParaRPr sz="1600" dirty="0"/>
          </a:p>
          <a:p>
            <a:pPr algn="ctr">
              <a:lnSpc>
                <a:spcPct val="115000"/>
              </a:lnSpc>
            </a:pPr>
            <a:r>
              <a:rPr lang="en-US" sz="2000" b="1" dirty="0" err="1">
                <a:latin typeface="Times New Roman"/>
                <a:ea typeface="Times New Roman"/>
              </a:rPr>
              <a:t>Shubham</a:t>
            </a:r>
            <a:r>
              <a:rPr lang="en-US" sz="2000" b="1" dirty="0">
                <a:latin typeface="Times New Roman"/>
                <a:ea typeface="Times New Roman"/>
              </a:rPr>
              <a:t> </a:t>
            </a:r>
            <a:r>
              <a:rPr lang="en-US" sz="2000" b="1" dirty="0" err="1">
                <a:latin typeface="Times New Roman"/>
                <a:ea typeface="Times New Roman"/>
              </a:rPr>
              <a:t>Malpure</a:t>
            </a:r>
            <a:endParaRPr sz="1600" dirty="0"/>
          </a:p>
          <a:p>
            <a:pPr algn="ctr">
              <a:lnSpc>
                <a:spcPct val="115000"/>
              </a:lnSpc>
            </a:pPr>
            <a:r>
              <a:rPr lang="en-US" sz="2000" b="1" dirty="0" err="1">
                <a:latin typeface="Times New Roman"/>
                <a:ea typeface="Times New Roman"/>
              </a:rPr>
              <a:t>Swapnil</a:t>
            </a:r>
            <a:r>
              <a:rPr lang="en-US" sz="2000" b="1" dirty="0">
                <a:latin typeface="Times New Roman"/>
                <a:ea typeface="Times New Roman"/>
              </a:rPr>
              <a:t> </a:t>
            </a:r>
            <a:r>
              <a:rPr lang="en-US" sz="2000" b="1" dirty="0" err="1">
                <a:latin typeface="Times New Roman"/>
                <a:ea typeface="Times New Roman"/>
              </a:rPr>
              <a:t>Bhalerao</a:t>
            </a:r>
            <a:endParaRPr sz="1600" dirty="0"/>
          </a:p>
          <a:p>
            <a:pPr algn="ctr">
              <a:lnSpc>
                <a:spcPct val="115000"/>
              </a:lnSpc>
            </a:pPr>
            <a:endParaRPr sz="2400" dirty="0"/>
          </a:p>
          <a:p>
            <a:pPr algn="ctr">
              <a:lnSpc>
                <a:spcPct val="115000"/>
              </a:lnSpc>
            </a:pPr>
            <a:r>
              <a:rPr lang="en-US" sz="2800" dirty="0">
                <a:latin typeface="Times New Roman"/>
                <a:ea typeface="Times New Roman"/>
              </a:rPr>
              <a:t>Guided By</a:t>
            </a:r>
            <a:endParaRPr sz="2400" dirty="0"/>
          </a:p>
          <a:p>
            <a:pPr algn="ctr">
              <a:lnSpc>
                <a:spcPct val="115000"/>
              </a:lnSpc>
            </a:pPr>
            <a:r>
              <a:rPr lang="en-US" sz="2400" b="1" dirty="0">
                <a:latin typeface="Times New Roman"/>
                <a:ea typeface="Times New Roman"/>
              </a:rPr>
              <a:t>Prof</a:t>
            </a:r>
            <a:r>
              <a:rPr lang="en-US" sz="2400" b="1" dirty="0" smtClean="0">
                <a:latin typeface="Times New Roman"/>
                <a:ea typeface="Times New Roman"/>
              </a:rPr>
              <a:t>. J.S. </a:t>
            </a:r>
            <a:r>
              <a:rPr lang="en-US" sz="2400" b="1" dirty="0" err="1" smtClean="0">
                <a:latin typeface="Times New Roman"/>
                <a:ea typeface="Times New Roman"/>
              </a:rPr>
              <a:t>Kulkarni</a:t>
            </a:r>
            <a:endParaRPr sz="2400" dirty="0"/>
          </a:p>
          <a:p>
            <a:pPr algn="ctr">
              <a:lnSpc>
                <a:spcPct val="115000"/>
              </a:lnSpc>
            </a:pPr>
            <a:endParaRPr sz="2400" dirty="0"/>
          </a:p>
        </p:txBody>
      </p:sp>
      <p:pic>
        <p:nvPicPr>
          <p:cNvPr id="75" name="Google Shape;68;p1"/>
          <p:cNvPicPr/>
          <p:nvPr/>
        </p:nvPicPr>
        <p:blipFill>
          <a:blip r:embed="rId2"/>
          <a:stretch>
            <a:fillRect/>
          </a:stretch>
        </p:blipFill>
        <p:spPr>
          <a:xfrm>
            <a:off x="1" y="0"/>
            <a:ext cx="1765300" cy="1568400"/>
          </a:xfrm>
          <a:prstGeom prst="rect">
            <a:avLst/>
          </a:prstGeom>
          <a:ln>
            <a:noFill/>
          </a:ln>
        </p:spPr>
      </p:pic>
    </p:spTree>
    <p:extLst>
      <p:ext uri="{BB962C8B-B14F-4D97-AF65-F5344CB8AC3E}">
        <p14:creationId xmlns:p14="http://schemas.microsoft.com/office/powerpoint/2010/main" val="1353822979"/>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7440" y="924880"/>
            <a:ext cx="7905224" cy="2858610"/>
          </a:xfrm>
        </p:spPr>
        <p:txBody>
          <a:bodyPr>
            <a:noAutofit/>
          </a:bodyPr>
          <a:lstStyle/>
          <a:p>
            <a:pPr algn="ctr"/>
            <a:r>
              <a:rPr lang="en-IN" sz="3200" dirty="0" smtClean="0"/>
              <a:t>“Disease </a:t>
            </a:r>
            <a:r>
              <a:rPr lang="en-IN" sz="3200" dirty="0"/>
              <a:t>Prediction Using ML- Lung Cancer Detection and Classification Using Efficient </a:t>
            </a:r>
            <a:r>
              <a:rPr lang="en-IN" sz="3200" dirty="0" smtClean="0"/>
              <a:t>Net”</a:t>
            </a:r>
            <a:endParaRPr lang="en-IN" sz="32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00300" y="-329882"/>
            <a:ext cx="5791200" cy="990282"/>
          </a:xfrm>
        </p:spPr>
        <p:txBody>
          <a:bodyPr/>
          <a:lstStyle/>
          <a:p>
            <a:r>
              <a:rPr dirty="0"/>
              <a:t>Contents</a:t>
            </a:r>
          </a:p>
        </p:txBody>
      </p:sp>
      <p:sp>
        <p:nvSpPr>
          <p:cNvPr id="3" name="Content Placeholder 2"/>
          <p:cNvSpPr>
            <a:spLocks noGrp="1"/>
          </p:cNvSpPr>
          <p:nvPr>
            <p:ph idx="1"/>
          </p:nvPr>
        </p:nvSpPr>
        <p:spPr>
          <a:xfrm>
            <a:off x="190500" y="660400"/>
            <a:ext cx="8229600" cy="5778500"/>
          </a:xfrm>
        </p:spPr>
        <p:txBody>
          <a:bodyPr numCol="2">
            <a:noAutofit/>
          </a:bodyPr>
          <a:lstStyle/>
          <a:p>
            <a:pPr marL="342900" indent="-342900">
              <a:buFont typeface="Wingdings" pitchFamily="2" charset="2"/>
              <a:buChar char="q"/>
            </a:pPr>
            <a:r>
              <a:rPr lang="en-US" dirty="0" smtClean="0">
                <a:latin typeface="+mj-lt"/>
              </a:rPr>
              <a:t>Introduction</a:t>
            </a:r>
          </a:p>
          <a:p>
            <a:pPr marL="342900" indent="-342900">
              <a:buFont typeface="Wingdings" pitchFamily="2" charset="2"/>
              <a:buChar char="q"/>
            </a:pPr>
            <a:r>
              <a:rPr lang="en-US" dirty="0" smtClean="0">
                <a:latin typeface="+mj-lt"/>
              </a:rPr>
              <a:t>Motivation</a:t>
            </a:r>
          </a:p>
          <a:p>
            <a:pPr marL="342900" indent="-342900">
              <a:buFont typeface="Wingdings" pitchFamily="2" charset="2"/>
              <a:buChar char="q"/>
            </a:pPr>
            <a:r>
              <a:rPr lang="en-US" dirty="0" smtClean="0">
                <a:latin typeface="+mj-lt"/>
              </a:rPr>
              <a:t>Problem Statement</a:t>
            </a:r>
          </a:p>
          <a:p>
            <a:pPr marL="342900" indent="-342900">
              <a:buFont typeface="Wingdings" pitchFamily="2" charset="2"/>
              <a:buChar char="q"/>
            </a:pPr>
            <a:r>
              <a:rPr dirty="0" smtClean="0">
                <a:latin typeface="+mj-lt"/>
              </a:rPr>
              <a:t>Objective</a:t>
            </a:r>
            <a:endParaRPr dirty="0">
              <a:latin typeface="+mj-lt"/>
            </a:endParaRPr>
          </a:p>
          <a:p>
            <a:pPr marL="342900" indent="-342900">
              <a:buFont typeface="Wingdings" pitchFamily="2" charset="2"/>
              <a:buChar char="q"/>
            </a:pPr>
            <a:r>
              <a:rPr dirty="0" smtClean="0">
                <a:latin typeface="+mj-lt"/>
              </a:rPr>
              <a:t>Existing </a:t>
            </a:r>
            <a:r>
              <a:rPr dirty="0">
                <a:latin typeface="+mj-lt"/>
              </a:rPr>
              <a:t>System</a:t>
            </a:r>
          </a:p>
          <a:p>
            <a:pPr marL="342900" indent="-342900">
              <a:buFont typeface="Wingdings" pitchFamily="2" charset="2"/>
              <a:buChar char="q"/>
            </a:pPr>
            <a:r>
              <a:rPr dirty="0">
                <a:latin typeface="+mj-lt"/>
              </a:rPr>
              <a:t>Literature </a:t>
            </a:r>
            <a:r>
              <a:rPr dirty="0" smtClean="0">
                <a:latin typeface="+mj-lt"/>
              </a:rPr>
              <a:t>Survey</a:t>
            </a:r>
            <a:endParaRPr lang="en-US" dirty="0" smtClean="0">
              <a:latin typeface="+mj-lt"/>
            </a:endParaRPr>
          </a:p>
          <a:p>
            <a:pPr marL="342900" indent="-342900">
              <a:buFont typeface="Wingdings" pitchFamily="2" charset="2"/>
              <a:buChar char="q"/>
            </a:pPr>
            <a:r>
              <a:rPr lang="en-US" dirty="0" smtClean="0">
                <a:latin typeface="+mj-lt"/>
              </a:rPr>
              <a:t>Software</a:t>
            </a:r>
          </a:p>
          <a:p>
            <a:pPr marL="342900" indent="-342900">
              <a:buFont typeface="Wingdings" pitchFamily="2" charset="2"/>
              <a:buChar char="q"/>
            </a:pPr>
            <a:r>
              <a:rPr lang="en-US" dirty="0" smtClean="0">
                <a:latin typeface="+mj-lt"/>
              </a:rPr>
              <a:t>Hardware</a:t>
            </a:r>
          </a:p>
          <a:p>
            <a:pPr marL="342900" indent="-342900">
              <a:buFont typeface="Wingdings" pitchFamily="2" charset="2"/>
              <a:buChar char="q"/>
            </a:pPr>
            <a:r>
              <a:rPr dirty="0" smtClean="0">
                <a:latin typeface="+mj-lt"/>
              </a:rPr>
              <a:t>Project Scope</a:t>
            </a:r>
            <a:endParaRPr lang="en-US" dirty="0" smtClean="0">
              <a:latin typeface="+mj-lt"/>
            </a:endParaRPr>
          </a:p>
          <a:p>
            <a:pPr marL="342900" indent="-342900">
              <a:buFont typeface="Wingdings" pitchFamily="2" charset="2"/>
              <a:buChar char="q"/>
            </a:pPr>
            <a:r>
              <a:rPr lang="en-US" dirty="0" smtClean="0">
                <a:latin typeface="+mj-lt"/>
              </a:rPr>
              <a:t>Project Timeline Chart</a:t>
            </a:r>
          </a:p>
          <a:p>
            <a:pPr marL="342900" indent="-342900">
              <a:buFont typeface="Wingdings" pitchFamily="2" charset="2"/>
              <a:buChar char="q"/>
            </a:pPr>
            <a:r>
              <a:rPr lang="en-US" dirty="0" smtClean="0">
                <a:latin typeface="+mj-lt"/>
              </a:rPr>
              <a:t>Assumptions and Dependencies</a:t>
            </a:r>
          </a:p>
          <a:p>
            <a:pPr marL="342900" indent="-342900">
              <a:buFont typeface="Wingdings" pitchFamily="2" charset="2"/>
              <a:buChar char="q"/>
            </a:pPr>
            <a:r>
              <a:rPr lang="en-US" dirty="0" smtClean="0">
                <a:latin typeface="+mj-lt"/>
              </a:rPr>
              <a:t>Functional Requirements</a:t>
            </a:r>
            <a:endParaRPr dirty="0">
              <a:latin typeface="+mj-lt"/>
            </a:endParaRPr>
          </a:p>
          <a:p>
            <a:pPr marL="342900" indent="-342900">
              <a:buFont typeface="Wingdings" pitchFamily="2" charset="2"/>
              <a:buChar char="q"/>
            </a:pPr>
            <a:r>
              <a:rPr dirty="0" smtClean="0">
                <a:latin typeface="+mj-lt"/>
              </a:rPr>
              <a:t>Algorithm</a:t>
            </a:r>
            <a:endParaRPr lang="en-US" dirty="0" smtClean="0">
              <a:latin typeface="+mj-lt"/>
            </a:endParaRPr>
          </a:p>
          <a:p>
            <a:pPr marL="342900" indent="-342900">
              <a:buFont typeface="Wingdings" pitchFamily="2" charset="2"/>
              <a:buChar char="q"/>
            </a:pPr>
            <a:r>
              <a:rPr lang="en-US" dirty="0" smtClean="0">
                <a:latin typeface="+mj-lt"/>
              </a:rPr>
              <a:t>Architecture</a:t>
            </a:r>
          </a:p>
          <a:p>
            <a:pPr marL="342900" indent="-342900">
              <a:buFont typeface="Wingdings" pitchFamily="2" charset="2"/>
              <a:buChar char="q"/>
            </a:pPr>
            <a:r>
              <a:rPr lang="en-US" dirty="0" smtClean="0">
                <a:latin typeface="+mj-lt"/>
              </a:rPr>
              <a:t>DFD 0</a:t>
            </a:r>
          </a:p>
          <a:p>
            <a:pPr marL="342900" indent="-342900">
              <a:buFont typeface="Wingdings" pitchFamily="2" charset="2"/>
              <a:buChar char="q"/>
            </a:pPr>
            <a:r>
              <a:rPr lang="en-US" dirty="0" smtClean="0">
                <a:latin typeface="+mj-lt"/>
              </a:rPr>
              <a:t>DFD 1</a:t>
            </a:r>
          </a:p>
          <a:p>
            <a:pPr marL="342900" indent="-342900">
              <a:buFont typeface="Wingdings" pitchFamily="2" charset="2"/>
              <a:buChar char="q"/>
            </a:pPr>
            <a:r>
              <a:rPr lang="en-US" dirty="0" smtClean="0">
                <a:latin typeface="+mj-lt"/>
              </a:rPr>
              <a:t>DFD 2</a:t>
            </a:r>
          </a:p>
          <a:p>
            <a:pPr marL="342900" indent="-342900">
              <a:buFont typeface="Wingdings" pitchFamily="2" charset="2"/>
              <a:buChar char="q"/>
            </a:pPr>
            <a:r>
              <a:rPr lang="en-US" dirty="0" smtClean="0">
                <a:latin typeface="+mj-lt"/>
              </a:rPr>
              <a:t>UML Diagrams</a:t>
            </a:r>
            <a:endParaRPr dirty="0">
              <a:latin typeface="+mj-lt"/>
            </a:endParaRPr>
          </a:p>
          <a:p>
            <a:pPr marL="342900" indent="-342900">
              <a:buFont typeface="Wingdings" pitchFamily="2" charset="2"/>
              <a:buChar char="q"/>
            </a:pPr>
            <a:r>
              <a:rPr dirty="0" smtClean="0">
                <a:latin typeface="+mj-lt"/>
              </a:rPr>
              <a:t>Advantages</a:t>
            </a:r>
            <a:endParaRPr lang="en-US" dirty="0" smtClean="0">
              <a:latin typeface="+mj-lt"/>
            </a:endParaRPr>
          </a:p>
          <a:p>
            <a:pPr marL="342900" indent="-342900">
              <a:buFont typeface="Wingdings" pitchFamily="2" charset="2"/>
              <a:buChar char="q"/>
            </a:pPr>
            <a:r>
              <a:rPr lang="en-US" dirty="0" smtClean="0">
                <a:latin typeface="+mj-lt"/>
              </a:rPr>
              <a:t>User Interface</a:t>
            </a:r>
            <a:endParaRPr dirty="0">
              <a:latin typeface="+mj-lt"/>
            </a:endParaRPr>
          </a:p>
          <a:p>
            <a:pPr marL="342900" indent="-342900">
              <a:buFont typeface="Wingdings" pitchFamily="2" charset="2"/>
              <a:buChar char="q"/>
            </a:pPr>
            <a:r>
              <a:rPr dirty="0" smtClean="0">
                <a:latin typeface="+mj-lt"/>
              </a:rPr>
              <a:t>Application</a:t>
            </a:r>
            <a:endParaRPr dirty="0">
              <a:latin typeface="+mj-lt"/>
            </a:endParaRPr>
          </a:p>
          <a:p>
            <a:pPr marL="342900" indent="-342900">
              <a:buFont typeface="Wingdings" pitchFamily="2" charset="2"/>
              <a:buChar char="q"/>
            </a:pPr>
            <a:r>
              <a:rPr dirty="0">
                <a:latin typeface="+mj-lt"/>
              </a:rPr>
              <a:t>References</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26193"/>
          </a:xfrm>
        </p:spPr>
        <p:txBody>
          <a:bodyPr/>
          <a:lstStyle/>
          <a:p>
            <a:r>
              <a:rPr dirty="0"/>
              <a:t>Introduction</a:t>
            </a:r>
          </a:p>
        </p:txBody>
      </p:sp>
      <p:sp>
        <p:nvSpPr>
          <p:cNvPr id="5" name="Rectangle 4"/>
          <p:cNvSpPr/>
          <p:nvPr/>
        </p:nvSpPr>
        <p:spPr>
          <a:xfrm>
            <a:off x="457200" y="1202035"/>
            <a:ext cx="8140700" cy="4985980"/>
          </a:xfrm>
          <a:prstGeom prst="rect">
            <a:avLst/>
          </a:prstGeom>
        </p:spPr>
        <p:txBody>
          <a:bodyPr wrap="square">
            <a:spAutoFit/>
          </a:bodyPr>
          <a:lstStyle/>
          <a:p>
            <a:pPr marL="285750" indent="-285750" algn="just">
              <a:buFont typeface="Wingdings" pitchFamily="2" charset="2"/>
              <a:buChar char="ü"/>
            </a:pPr>
            <a:r>
              <a:rPr lang="en-US" sz="2000" dirty="0"/>
              <a:t>Manifestation of Lung cancer in the body of the patient reveals through early symptoms in most of the </a:t>
            </a:r>
            <a:r>
              <a:rPr lang="en-US" sz="2000" dirty="0" smtClean="0"/>
              <a:t>cases</a:t>
            </a:r>
          </a:p>
          <a:p>
            <a:pPr marL="285750" indent="-285750" algn="just">
              <a:buFont typeface="Wingdings" pitchFamily="2" charset="2"/>
              <a:buChar char="ü"/>
            </a:pPr>
            <a:endParaRPr lang="en-US" sz="2000" dirty="0" smtClean="0"/>
          </a:p>
          <a:p>
            <a:pPr marL="285750" indent="-285750" algn="just">
              <a:buFont typeface="Wingdings" pitchFamily="2" charset="2"/>
              <a:buChar char="ü"/>
            </a:pPr>
            <a:r>
              <a:rPr lang="en-US" sz="2000" dirty="0" smtClean="0"/>
              <a:t>Lung </a:t>
            </a:r>
            <a:r>
              <a:rPr lang="en-US" sz="2000" dirty="0"/>
              <a:t>cancer is a disease which arises due to growth of unwanted tissues in the lung and this growth which spreads beyond the lung are named as metastasis which spreads into other parts of the </a:t>
            </a:r>
            <a:r>
              <a:rPr lang="en-US" sz="2000" dirty="0" smtClean="0"/>
              <a:t>body</a:t>
            </a:r>
          </a:p>
          <a:p>
            <a:pPr marL="285750" indent="-285750" algn="just">
              <a:buFont typeface="Wingdings" pitchFamily="2" charset="2"/>
              <a:buChar char="ü"/>
            </a:pPr>
            <a:endParaRPr lang="en-US" sz="2000" dirty="0"/>
          </a:p>
          <a:p>
            <a:pPr marL="285750" indent="-285750" algn="just">
              <a:buFont typeface="Wingdings" pitchFamily="2" charset="2"/>
              <a:buChar char="ü"/>
            </a:pPr>
            <a:r>
              <a:rPr lang="en-US" sz="2000" dirty="0"/>
              <a:t>The classification is performed and the results were evaluated with the performance comparison of various algorithms. This prediction system is useful for the doctors to take an appropriate decision based on patient’s </a:t>
            </a:r>
            <a:r>
              <a:rPr lang="en-US" sz="2000" dirty="0" smtClean="0"/>
              <a:t>condition.</a:t>
            </a:r>
          </a:p>
          <a:p>
            <a:pPr marL="285750" indent="-285750" algn="just">
              <a:buFont typeface="Wingdings" pitchFamily="2" charset="2"/>
              <a:buChar char="ü"/>
            </a:pPr>
            <a:endParaRPr lang="en-US" sz="2000" dirty="0" smtClean="0"/>
          </a:p>
          <a:p>
            <a:pPr marL="285750" indent="-285750" algn="just">
              <a:buFont typeface="Wingdings" pitchFamily="2" charset="2"/>
              <a:buChar char="ü"/>
            </a:pPr>
            <a:r>
              <a:rPr lang="en-US" sz="2000" dirty="0"/>
              <a:t>To reduce the time taken for feature extraction of all dataset images. The training time will be reduced by sharing the work among different local processors</a:t>
            </a:r>
          </a:p>
          <a:p>
            <a:pPr marL="285750" indent="-285750">
              <a:buFont typeface="Wingdings" pitchFamily="2" charset="2"/>
              <a:buChar char="ü"/>
            </a:pPr>
            <a:endParaRPr lang="en-IN"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46294"/>
          </a:xfrm>
        </p:spPr>
        <p:txBody>
          <a:bodyPr/>
          <a:lstStyle/>
          <a:p>
            <a:r>
              <a:rPr dirty="0"/>
              <a:t>Motivation</a:t>
            </a:r>
          </a:p>
        </p:txBody>
      </p:sp>
      <p:sp>
        <p:nvSpPr>
          <p:cNvPr id="3" name="Rectangle 2"/>
          <p:cNvSpPr/>
          <p:nvPr/>
        </p:nvSpPr>
        <p:spPr>
          <a:xfrm>
            <a:off x="279400" y="1362145"/>
            <a:ext cx="8153400" cy="4247317"/>
          </a:xfrm>
          <a:prstGeom prst="rect">
            <a:avLst/>
          </a:prstGeom>
        </p:spPr>
        <p:txBody>
          <a:bodyPr wrap="square">
            <a:spAutoFit/>
          </a:bodyPr>
          <a:lstStyle/>
          <a:p>
            <a:pPr algn="just"/>
            <a:r>
              <a:rPr lang="en-US" sz="2000" dirty="0"/>
              <a:t>Lung cancer is one of the commonest cancers and cause of cancer related deaths all over the world. It accounts for 13 per cent of all new cancer cases and 19 per cent of cancer related deaths worldwide. There were 1.8 million new lung cancer cases estimated to occur in 2012 [32</a:t>
            </a:r>
            <a:r>
              <a:rPr lang="en-US" sz="2000" dirty="0" smtClean="0"/>
              <a:t>].</a:t>
            </a:r>
          </a:p>
          <a:p>
            <a:pPr algn="just"/>
            <a:endParaRPr lang="en-IN" sz="2000" dirty="0"/>
          </a:p>
          <a:p>
            <a:pPr algn="just"/>
            <a:r>
              <a:rPr lang="en-US" sz="2000" dirty="0"/>
              <a:t>With this research we would like to help doctors save time, that is otherwise spent in the analysis of the CT Scans, for trying to identify the Lung Cancer. This also indirectly saves precious time of the patient, which can otherwise be used for the treatment. We aim to build a system where the CT Scans be automatically analyzed using the Deep-Convolutional-Neural-Network technology.</a:t>
            </a:r>
            <a:endParaRPr lang="en-IN" sz="2000" dirty="0"/>
          </a:p>
          <a:p>
            <a:pPr algn="just">
              <a:lnSpc>
                <a:spcPct val="150000"/>
              </a:lnSpc>
            </a:pPr>
            <a:r>
              <a:rPr lang="en-US" sz="2000" dirty="0" smtClean="0"/>
              <a:t>.</a:t>
            </a:r>
            <a:endParaRPr lang="en-IN" sz="20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88337"/>
          </a:xfrm>
        </p:spPr>
        <p:txBody>
          <a:bodyPr/>
          <a:lstStyle/>
          <a:p>
            <a:r>
              <a:rPr dirty="0"/>
              <a:t>Problem Statement</a:t>
            </a:r>
          </a:p>
        </p:txBody>
      </p:sp>
      <p:sp>
        <p:nvSpPr>
          <p:cNvPr id="3" name="Rectangle 2"/>
          <p:cNvSpPr/>
          <p:nvPr/>
        </p:nvSpPr>
        <p:spPr>
          <a:xfrm>
            <a:off x="342900" y="1308101"/>
            <a:ext cx="8166100" cy="2169825"/>
          </a:xfrm>
          <a:prstGeom prst="rect">
            <a:avLst/>
          </a:prstGeom>
        </p:spPr>
        <p:txBody>
          <a:bodyPr wrap="square">
            <a:spAutoFit/>
          </a:bodyPr>
          <a:lstStyle/>
          <a:p>
            <a:pPr algn="just">
              <a:lnSpc>
                <a:spcPct val="150000"/>
              </a:lnSpc>
            </a:pPr>
            <a:r>
              <a:rPr lang="en-US" dirty="0"/>
              <a:t>The project integrates different topics in Computer Science to try and solve a real world problem in the medical domain. The project consists of </a:t>
            </a:r>
            <a:r>
              <a:rPr lang="en-US" dirty="0" smtClean="0"/>
              <a:t>CNN and </a:t>
            </a:r>
            <a:r>
              <a:rPr lang="en-US" dirty="0"/>
              <a:t>software development to deliver a proof of concept. The application is a lung cancer detection system to help doctors make better and informed decisions when diagnosing lung </a:t>
            </a:r>
            <a:r>
              <a:rPr lang="en-US" dirty="0" smtClean="0"/>
              <a:t>cancer using efficient Net</a:t>
            </a:r>
            <a:endParaRPr lang="en-IN"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26193"/>
          </a:xfrm>
        </p:spPr>
        <p:txBody>
          <a:bodyPr/>
          <a:lstStyle/>
          <a:p>
            <a:r>
              <a:rPr dirty="0"/>
              <a:t>Objective</a:t>
            </a:r>
          </a:p>
        </p:txBody>
      </p:sp>
      <p:sp>
        <p:nvSpPr>
          <p:cNvPr id="4" name="Content Placeholder 3"/>
          <p:cNvSpPr>
            <a:spLocks noGrp="1"/>
          </p:cNvSpPr>
          <p:nvPr>
            <p:ph idx="1"/>
          </p:nvPr>
        </p:nvSpPr>
        <p:spPr>
          <a:xfrm>
            <a:off x="457200" y="1320800"/>
            <a:ext cx="8140700" cy="5219700"/>
          </a:xfrm>
        </p:spPr>
        <p:txBody>
          <a:bodyPr>
            <a:normAutofit/>
          </a:bodyPr>
          <a:lstStyle/>
          <a:p>
            <a:pPr marL="342900" lvl="0" indent="-342900" algn="just">
              <a:buFont typeface="Wingdings" pitchFamily="2" charset="2"/>
              <a:buChar char="Ø"/>
            </a:pPr>
            <a:r>
              <a:rPr lang="en-US" dirty="0"/>
              <a:t>Self-Learning: To understand the CT scan technology and how the images formed can be used to identify the cancerous nodule. </a:t>
            </a:r>
            <a:endParaRPr lang="en-IN" dirty="0"/>
          </a:p>
          <a:p>
            <a:pPr marL="342900" lvl="0" indent="-342900" algn="just">
              <a:buFont typeface="Wingdings" pitchFamily="2" charset="2"/>
              <a:buChar char="Ø"/>
            </a:pPr>
            <a:r>
              <a:rPr lang="en-US" dirty="0"/>
              <a:t>Self-Learning: To understand the deep learning algorithms and the working principles of convolution techniques in deep neural networks.</a:t>
            </a:r>
            <a:endParaRPr lang="en-IN" dirty="0"/>
          </a:p>
          <a:p>
            <a:pPr marL="342900" lvl="0" indent="-342900" algn="just">
              <a:buFont typeface="Wingdings" pitchFamily="2" charset="2"/>
              <a:buChar char="Ø"/>
            </a:pPr>
            <a:r>
              <a:rPr lang="en-US" dirty="0"/>
              <a:t>Development: Develop CNN based Lung Cancer Detection and Nodule Classification algorithm.</a:t>
            </a:r>
            <a:endParaRPr lang="en-IN" dirty="0"/>
          </a:p>
          <a:p>
            <a:pPr marL="342900" lvl="0" indent="-342900" algn="just">
              <a:buFont typeface="Wingdings" pitchFamily="2" charset="2"/>
              <a:buChar char="Ø"/>
            </a:pPr>
            <a:r>
              <a:rPr lang="en-US" dirty="0"/>
              <a:t>Research: To research various CNN based deep learning architectures, and their detection and classification performance on the dataset</a:t>
            </a:r>
            <a:endParaRPr lang="en-IN"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08438"/>
          </a:xfrm>
        </p:spPr>
        <p:txBody>
          <a:bodyPr/>
          <a:lstStyle/>
          <a:p>
            <a:r>
              <a:rPr dirty="0"/>
              <a:t>Existing System</a:t>
            </a:r>
          </a:p>
        </p:txBody>
      </p:sp>
      <p:sp>
        <p:nvSpPr>
          <p:cNvPr id="4" name="Rounded Rectangle 3"/>
          <p:cNvSpPr/>
          <p:nvPr/>
        </p:nvSpPr>
        <p:spPr>
          <a:xfrm>
            <a:off x="723900" y="1587500"/>
            <a:ext cx="1282700" cy="635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t>Input Image</a:t>
            </a:r>
            <a:endParaRPr lang="en-IN" dirty="0"/>
          </a:p>
        </p:txBody>
      </p:sp>
      <p:sp>
        <p:nvSpPr>
          <p:cNvPr id="6" name="Rounded Rectangle 5"/>
          <p:cNvSpPr/>
          <p:nvPr/>
        </p:nvSpPr>
        <p:spPr>
          <a:xfrm>
            <a:off x="2209800" y="1587500"/>
            <a:ext cx="1473200" cy="635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t>Pre-processing</a:t>
            </a:r>
            <a:endParaRPr lang="en-IN" dirty="0"/>
          </a:p>
        </p:txBody>
      </p:sp>
      <p:sp>
        <p:nvSpPr>
          <p:cNvPr id="7" name="Rounded Rectangle 6"/>
          <p:cNvSpPr/>
          <p:nvPr/>
        </p:nvSpPr>
        <p:spPr>
          <a:xfrm>
            <a:off x="4089400" y="2667000"/>
            <a:ext cx="1282700" cy="635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t>Feature </a:t>
            </a:r>
            <a:endParaRPr lang="en-IN" dirty="0"/>
          </a:p>
        </p:txBody>
      </p:sp>
      <p:sp>
        <p:nvSpPr>
          <p:cNvPr id="8" name="Rounded Rectangle 7"/>
          <p:cNvSpPr/>
          <p:nvPr/>
        </p:nvSpPr>
        <p:spPr>
          <a:xfrm>
            <a:off x="3886200" y="1562100"/>
            <a:ext cx="1282700" cy="635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t>DT-Scan Image</a:t>
            </a:r>
            <a:endParaRPr lang="en-IN" dirty="0"/>
          </a:p>
        </p:txBody>
      </p:sp>
      <p:sp>
        <p:nvSpPr>
          <p:cNvPr id="9" name="Rounded Rectangle 8"/>
          <p:cNvSpPr/>
          <p:nvPr/>
        </p:nvSpPr>
        <p:spPr>
          <a:xfrm>
            <a:off x="2603500" y="2667000"/>
            <a:ext cx="1282700" cy="635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t>Database Image</a:t>
            </a:r>
            <a:endParaRPr lang="en-IN" dirty="0"/>
          </a:p>
        </p:txBody>
      </p:sp>
      <p:sp>
        <p:nvSpPr>
          <p:cNvPr id="10" name="Rounded Rectangle 9"/>
          <p:cNvSpPr/>
          <p:nvPr/>
        </p:nvSpPr>
        <p:spPr>
          <a:xfrm>
            <a:off x="5372100" y="1562100"/>
            <a:ext cx="1701800" cy="635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t>Feature Classification</a:t>
            </a:r>
            <a:endParaRPr lang="en-IN" dirty="0"/>
          </a:p>
        </p:txBody>
      </p:sp>
      <p:sp>
        <p:nvSpPr>
          <p:cNvPr id="11" name="Rounded Rectangle 10"/>
          <p:cNvSpPr/>
          <p:nvPr/>
        </p:nvSpPr>
        <p:spPr>
          <a:xfrm>
            <a:off x="5581650" y="2667000"/>
            <a:ext cx="1282700" cy="635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t>CNN</a:t>
            </a:r>
            <a:endParaRPr lang="en-IN" dirty="0"/>
          </a:p>
        </p:txBody>
      </p:sp>
      <p:sp>
        <p:nvSpPr>
          <p:cNvPr id="12" name="Rounded Rectangle 11"/>
          <p:cNvSpPr/>
          <p:nvPr/>
        </p:nvSpPr>
        <p:spPr>
          <a:xfrm>
            <a:off x="4527550" y="4013200"/>
            <a:ext cx="1282700" cy="635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t>Abnormal</a:t>
            </a:r>
            <a:endParaRPr lang="en-IN" dirty="0"/>
          </a:p>
        </p:txBody>
      </p:sp>
      <p:sp>
        <p:nvSpPr>
          <p:cNvPr id="13" name="Rounded Rectangle 12"/>
          <p:cNvSpPr/>
          <p:nvPr/>
        </p:nvSpPr>
        <p:spPr>
          <a:xfrm>
            <a:off x="6203950" y="4013200"/>
            <a:ext cx="1282700" cy="635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t>Normal</a:t>
            </a:r>
            <a:endParaRPr lang="en-IN" dirty="0"/>
          </a:p>
        </p:txBody>
      </p:sp>
      <p:cxnSp>
        <p:nvCxnSpPr>
          <p:cNvPr id="14" name="Straight Arrow Connector 13"/>
          <p:cNvCxnSpPr>
            <a:stCxn id="4" idx="3"/>
            <a:endCxn id="6" idx="1"/>
          </p:cNvCxnSpPr>
          <p:nvPr/>
        </p:nvCxnSpPr>
        <p:spPr>
          <a:xfrm>
            <a:off x="2006600" y="1905000"/>
            <a:ext cx="20320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6" name="Straight Arrow Connector 15"/>
          <p:cNvCxnSpPr/>
          <p:nvPr/>
        </p:nvCxnSpPr>
        <p:spPr>
          <a:xfrm>
            <a:off x="3683000" y="1905000"/>
            <a:ext cx="20320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7" name="Straight Arrow Connector 16"/>
          <p:cNvCxnSpPr/>
          <p:nvPr/>
        </p:nvCxnSpPr>
        <p:spPr>
          <a:xfrm>
            <a:off x="5168900" y="1879600"/>
            <a:ext cx="20320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9" name="Straight Arrow Connector 18"/>
          <p:cNvCxnSpPr>
            <a:stCxn id="10" idx="2"/>
          </p:cNvCxnSpPr>
          <p:nvPr/>
        </p:nvCxnSpPr>
        <p:spPr>
          <a:xfrm>
            <a:off x="6223000" y="2197100"/>
            <a:ext cx="0" cy="4699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a:off x="3886200" y="2984500"/>
            <a:ext cx="20320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2" name="Straight Arrow Connector 21"/>
          <p:cNvCxnSpPr/>
          <p:nvPr/>
        </p:nvCxnSpPr>
        <p:spPr>
          <a:xfrm>
            <a:off x="5378450" y="2997200"/>
            <a:ext cx="20320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3" name="Straight Arrow Connector 22"/>
          <p:cNvCxnSpPr>
            <a:stCxn id="11" idx="2"/>
          </p:cNvCxnSpPr>
          <p:nvPr/>
        </p:nvCxnSpPr>
        <p:spPr>
          <a:xfrm flipH="1">
            <a:off x="5480050" y="3302000"/>
            <a:ext cx="742950" cy="71120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5" name="Straight Arrow Connector 24"/>
          <p:cNvCxnSpPr>
            <a:stCxn id="11" idx="2"/>
            <a:endCxn id="13" idx="0"/>
          </p:cNvCxnSpPr>
          <p:nvPr/>
        </p:nvCxnSpPr>
        <p:spPr>
          <a:xfrm>
            <a:off x="6223000" y="3302000"/>
            <a:ext cx="622300" cy="71120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352683"/>
          </a:xfrm>
        </p:spPr>
        <p:txBody>
          <a:bodyPr>
            <a:normAutofit fontScale="90000"/>
          </a:bodyPr>
          <a:lstStyle/>
          <a:p>
            <a:r>
              <a:rPr dirty="0"/>
              <a:t>Literature Survey</a:t>
            </a:r>
          </a:p>
        </p:txBody>
      </p:sp>
      <p:graphicFrame>
        <p:nvGraphicFramePr>
          <p:cNvPr id="3" name="Table 2"/>
          <p:cNvGraphicFramePr>
            <a:graphicFrameLocks noGrp="1"/>
          </p:cNvGraphicFramePr>
          <p:nvPr>
            <p:extLst>
              <p:ext uri="{D42A27DB-BD31-4B8C-83A1-F6EECF244321}">
                <p14:modId xmlns:p14="http://schemas.microsoft.com/office/powerpoint/2010/main" val="4148457782"/>
              </p:ext>
            </p:extLst>
          </p:nvPr>
        </p:nvGraphicFramePr>
        <p:xfrm>
          <a:off x="165099" y="627321"/>
          <a:ext cx="8931349" cy="6007413"/>
        </p:xfrm>
        <a:graphic>
          <a:graphicData uri="http://schemas.openxmlformats.org/drawingml/2006/table">
            <a:tbl>
              <a:tblPr firstRow="1" bandRow="1">
                <a:tableStyleId>{073A0DAA-6AF3-43AB-8588-CEC1D06C72B9}</a:tableStyleId>
              </a:tblPr>
              <a:tblGrid>
                <a:gridCol w="552937"/>
                <a:gridCol w="1085364"/>
                <a:gridCol w="1206500"/>
                <a:gridCol w="1422400"/>
                <a:gridCol w="4664148"/>
              </a:tblGrid>
              <a:tr h="734001">
                <a:tc>
                  <a:txBody>
                    <a:bodyPr/>
                    <a:lstStyle/>
                    <a:p>
                      <a:pPr algn="ctr"/>
                      <a:r>
                        <a:rPr lang="en-US" sz="1200" dirty="0" smtClean="0"/>
                        <a:t>Sr.No.</a:t>
                      </a:r>
                      <a:endParaRPr lang="en-IN" sz="1200" dirty="0"/>
                    </a:p>
                  </a:txBody>
                  <a:tcPr/>
                </a:tc>
                <a:tc>
                  <a:txBody>
                    <a:bodyPr/>
                    <a:lstStyle/>
                    <a:p>
                      <a:pPr algn="ctr"/>
                      <a:r>
                        <a:rPr lang="en-US" sz="1600" dirty="0" smtClean="0"/>
                        <a:t>Author Name</a:t>
                      </a:r>
                      <a:endParaRPr lang="en-IN" sz="1600" dirty="0"/>
                    </a:p>
                  </a:txBody>
                  <a:tcPr/>
                </a:tc>
                <a:tc>
                  <a:txBody>
                    <a:bodyPr/>
                    <a:lstStyle/>
                    <a:p>
                      <a:pPr algn="ctr"/>
                      <a:r>
                        <a:rPr lang="en-US" sz="1600" dirty="0" smtClean="0"/>
                        <a:t>Journal </a:t>
                      </a:r>
                      <a:endParaRPr lang="en-IN" sz="1600" dirty="0"/>
                    </a:p>
                  </a:txBody>
                  <a:tcPr/>
                </a:tc>
                <a:tc>
                  <a:txBody>
                    <a:bodyPr/>
                    <a:lstStyle/>
                    <a:p>
                      <a:pPr algn="ctr"/>
                      <a:r>
                        <a:rPr lang="en-US" sz="1600" dirty="0" smtClean="0"/>
                        <a:t>Name</a:t>
                      </a:r>
                      <a:endParaRPr lang="en-IN" sz="1600" dirty="0"/>
                    </a:p>
                  </a:txBody>
                  <a:tcPr/>
                </a:tc>
                <a:tc>
                  <a:txBody>
                    <a:bodyPr/>
                    <a:lstStyle/>
                    <a:p>
                      <a:pPr algn="ctr"/>
                      <a:r>
                        <a:rPr lang="en-US" sz="1600" dirty="0" smtClean="0"/>
                        <a:t>Description</a:t>
                      </a:r>
                      <a:endParaRPr lang="en-IN" sz="1600" dirty="0"/>
                    </a:p>
                  </a:txBody>
                  <a:tcPr/>
                </a:tc>
              </a:tr>
              <a:tr h="2042278">
                <a:tc>
                  <a:txBody>
                    <a:bodyPr/>
                    <a:lstStyle/>
                    <a:p>
                      <a:pPr algn="ctr"/>
                      <a:r>
                        <a:rPr lang="en-US" sz="1200" dirty="0" smtClean="0"/>
                        <a:t>1</a:t>
                      </a:r>
                      <a:endParaRPr lang="en-IN" sz="1200" dirty="0"/>
                    </a:p>
                  </a:txBody>
                  <a:tcPr/>
                </a:tc>
                <a:tc>
                  <a:txBody>
                    <a:bodyPr/>
                    <a:lstStyle/>
                    <a:p>
                      <a:r>
                        <a:rPr lang="en-IN" sz="1100" dirty="0" smtClean="0"/>
                        <a:t>Amin </a:t>
                      </a:r>
                      <a:r>
                        <a:rPr lang="en-IN" sz="1100" dirty="0" err="1" smtClean="0"/>
                        <a:t>Saif</a:t>
                      </a:r>
                      <a:r>
                        <a:rPr lang="en-IN" sz="1100" dirty="0" smtClean="0"/>
                        <a:t>,</a:t>
                      </a:r>
                      <a:r>
                        <a:rPr lang="en-IN" sz="1100" baseline="0" dirty="0" smtClean="0"/>
                        <a:t> </a:t>
                      </a:r>
                      <a:r>
                        <a:rPr lang="en-IN" sz="1100" dirty="0" err="1" smtClean="0"/>
                        <a:t>Yakoop</a:t>
                      </a:r>
                      <a:r>
                        <a:rPr lang="en-IN" sz="1100" dirty="0" smtClean="0"/>
                        <a:t> </a:t>
                      </a:r>
                      <a:r>
                        <a:rPr lang="en-IN" sz="1100" dirty="0" err="1" smtClean="0"/>
                        <a:t>Razzaz</a:t>
                      </a:r>
                      <a:r>
                        <a:rPr lang="en-IN" sz="1100" dirty="0" smtClean="0"/>
                        <a:t> </a:t>
                      </a:r>
                      <a:r>
                        <a:rPr lang="en-IN" sz="1100" dirty="0" err="1" smtClean="0"/>
                        <a:t>Hamoud</a:t>
                      </a:r>
                      <a:r>
                        <a:rPr lang="en-IN" sz="1100" dirty="0" smtClean="0"/>
                        <a:t> </a:t>
                      </a:r>
                      <a:r>
                        <a:rPr lang="en-IN" sz="1100" dirty="0" err="1" smtClean="0"/>
                        <a:t>Qasim</a:t>
                      </a:r>
                      <a:r>
                        <a:rPr lang="en-IN" sz="1100" dirty="0" smtClean="0"/>
                        <a:t>, </a:t>
                      </a:r>
                      <a:r>
                        <a:rPr lang="en-IN" sz="1100" dirty="0" err="1" smtClean="0"/>
                        <a:t>Habeb</a:t>
                      </a:r>
                      <a:r>
                        <a:rPr lang="en-IN" sz="1100" dirty="0" smtClean="0"/>
                        <a:t> </a:t>
                      </a:r>
                      <a:r>
                        <a:rPr lang="en-IN" sz="1100" dirty="0" err="1" smtClean="0"/>
                        <a:t>Abdulkhaleq</a:t>
                      </a:r>
                      <a:r>
                        <a:rPr lang="en-IN" sz="1100" dirty="0" smtClean="0"/>
                        <a:t> Mohammed Hassan Al-</a:t>
                      </a:r>
                      <a:r>
                        <a:rPr lang="en-IN" sz="1100" dirty="0" err="1" smtClean="0"/>
                        <a:t>Sameai</a:t>
                      </a:r>
                      <a:endParaRPr lang="en-IN" sz="1100" dirty="0" smtClean="0"/>
                    </a:p>
                    <a:p>
                      <a:endParaRPr lang="en-IN" sz="1100" dirty="0"/>
                    </a:p>
                  </a:txBody>
                  <a:tcPr/>
                </a:tc>
                <a:tc>
                  <a:txBody>
                    <a:bodyPr/>
                    <a:lstStyle/>
                    <a:p>
                      <a:r>
                        <a:rPr lang="en-US" sz="1100" dirty="0" smtClean="0"/>
                        <a:t>Int. J. Advanced Networking and Applications </a:t>
                      </a:r>
                    </a:p>
                    <a:p>
                      <a:r>
                        <a:rPr lang="en-US" sz="1100" dirty="0" smtClean="0"/>
                        <a:t>2020</a:t>
                      </a:r>
                      <a:endParaRPr lang="en-IN" sz="1100" dirty="0"/>
                    </a:p>
                  </a:txBody>
                  <a:tcPr/>
                </a:tc>
                <a:tc>
                  <a:txBody>
                    <a:bodyPr/>
                    <a:lstStyle/>
                    <a:p>
                      <a:r>
                        <a:rPr lang="en-IN" sz="1200" dirty="0" smtClean="0"/>
                        <a:t>Multi Paths Technique on Convolutional Neural Network for Lung Cancer Detection Based on </a:t>
                      </a:r>
                      <a:r>
                        <a:rPr lang="en-IN" sz="1200" dirty="0" err="1" smtClean="0"/>
                        <a:t>Histopatho</a:t>
                      </a:r>
                      <a:r>
                        <a:rPr lang="en-IN" sz="1200" dirty="0" smtClean="0"/>
                        <a:t>-logical Images </a:t>
                      </a:r>
                      <a:endParaRPr lang="en-IN" sz="1200" dirty="0"/>
                    </a:p>
                  </a:txBody>
                  <a:tcPr/>
                </a:tc>
                <a:tc>
                  <a:txBody>
                    <a:bodyPr/>
                    <a:lstStyle/>
                    <a:p>
                      <a:pPr algn="just"/>
                      <a:r>
                        <a:rPr lang="en-US" sz="1100" dirty="0" smtClean="0"/>
                        <a:t>Lung cancer is the leading cancer cause of death and it's survival rate is very small. An early diagnosis is a good solution to increase the survival rate for lung cancer. To diagnose lung cancer using deep learning we present a convolutional neural network to diagnose three types of lung cancer (Adenocarcinoma, Benign and Squamous) based on </a:t>
                      </a:r>
                      <a:r>
                        <a:rPr lang="en-US" sz="1100" dirty="0" err="1" smtClean="0"/>
                        <a:t>histopatho</a:t>
                      </a:r>
                      <a:r>
                        <a:rPr lang="en-US" sz="1100" dirty="0" smtClean="0"/>
                        <a:t>- logical images. The proposed model consists of a main path and three sub-paths. The main path works to extract the small features and creates feature maps at low-level. As for the sub-paths is responsible for transferring the medium and high levels feature maps to fully connected layers to complete the classification process, also the VGG16 was prepared to compare it with the performance of the proposed.</a:t>
                      </a:r>
                      <a:endParaRPr lang="en-IN" sz="1100" dirty="0">
                        <a:latin typeface="Times New Roman" pitchFamily="18" charset="0"/>
                        <a:cs typeface="Times New Roman" pitchFamily="18" charset="0"/>
                      </a:endParaRPr>
                    </a:p>
                  </a:txBody>
                  <a:tcPr/>
                </a:tc>
              </a:tr>
              <a:tr h="1638981">
                <a:tc>
                  <a:txBody>
                    <a:bodyPr/>
                    <a:lstStyle/>
                    <a:p>
                      <a:pPr algn="ctr"/>
                      <a:r>
                        <a:rPr lang="en-US" sz="1200" dirty="0" smtClean="0"/>
                        <a:t>2</a:t>
                      </a:r>
                      <a:endParaRPr lang="en-IN" sz="1200" dirty="0"/>
                    </a:p>
                  </a:txBody>
                  <a:tcPr/>
                </a:tc>
                <a:tc>
                  <a:txBody>
                    <a:bodyPr/>
                    <a:lstStyle/>
                    <a:p>
                      <a:r>
                        <a:rPr lang="en-IN" sz="1100" dirty="0" smtClean="0"/>
                        <a:t>K. Narmada, G. </a:t>
                      </a:r>
                      <a:r>
                        <a:rPr lang="en-IN" sz="1100" dirty="0" err="1" smtClean="0"/>
                        <a:t>Prabakaran</a:t>
                      </a:r>
                      <a:r>
                        <a:rPr lang="en-IN" sz="1100" dirty="0" smtClean="0"/>
                        <a:t> </a:t>
                      </a:r>
                      <a:endParaRPr lang="en-IN" sz="1100" dirty="0">
                        <a:latin typeface="Times New Roman" pitchFamily="18" charset="0"/>
                        <a:cs typeface="Times New Roman" pitchFamily="18" charset="0"/>
                      </a:endParaRPr>
                    </a:p>
                  </a:txBody>
                  <a:tcPr/>
                </a:tc>
                <a:tc>
                  <a:txBody>
                    <a:bodyPr/>
                    <a:lstStyle/>
                    <a:p>
                      <a:r>
                        <a:rPr lang="en-US" sz="1050" dirty="0" smtClean="0"/>
                        <a:t>INTERNATIONAL JOURNAL OF SCIENTIFIC &amp; TECHNOLOGY RESEARCH VOLUME 9, ISSUE 01, JANUARY 2020</a:t>
                      </a:r>
                      <a:endParaRPr lang="en-IN" sz="1050" dirty="0">
                        <a:latin typeface="Times New Roman" pitchFamily="18" charset="0"/>
                        <a:cs typeface="Times New Roman"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dirty="0" smtClean="0"/>
                        <a:t>An Effective Lung Cancer Detection And Classification Using Enhanced Fully Convolution Neural Networks </a:t>
                      </a:r>
                      <a:endParaRPr lang="en-IN" sz="1100" b="0" dirty="0"/>
                    </a:p>
                  </a:txBody>
                  <a:tcPr/>
                </a:tc>
                <a:tc>
                  <a:txBody>
                    <a:bodyPr/>
                    <a:lstStyle/>
                    <a:p>
                      <a:pPr algn="just"/>
                      <a:r>
                        <a:rPr lang="en-US" sz="1100" dirty="0" smtClean="0"/>
                        <a:t>The lung cancer tumor can be identified through this technique and also obtained the effective and accurate classification of stages of cancer. The CT images are used and also training samples can be identified. Even though the increase of training samples, it will give more accurate results over the detection methodology. In future, the optimization technique will used to improve the effectiveness of the detection and classification mechanism. Even more the treatment prediction will also identify in further improvements.</a:t>
                      </a:r>
                      <a:endParaRPr lang="en-IN" sz="1100" dirty="0"/>
                    </a:p>
                  </a:txBody>
                  <a:tcPr/>
                </a:tc>
              </a:tr>
              <a:tr h="1592153">
                <a:tc>
                  <a:txBody>
                    <a:bodyPr/>
                    <a:lstStyle/>
                    <a:p>
                      <a:pPr algn="ctr"/>
                      <a:r>
                        <a:rPr lang="en-US" sz="1200" dirty="0" smtClean="0"/>
                        <a:t>3</a:t>
                      </a:r>
                      <a:endParaRPr lang="en-IN" sz="1200" dirty="0"/>
                    </a:p>
                  </a:txBody>
                  <a:tcPr/>
                </a:tc>
                <a:tc>
                  <a:txBody>
                    <a:bodyPr/>
                    <a:lstStyle/>
                    <a:p>
                      <a:r>
                        <a:rPr lang="en-US" sz="1200" dirty="0" err="1" smtClean="0"/>
                        <a:t>Prathamesh</a:t>
                      </a:r>
                      <a:r>
                        <a:rPr lang="en-US" sz="1200" dirty="0" smtClean="0"/>
                        <a:t> </a:t>
                      </a:r>
                      <a:r>
                        <a:rPr lang="en-US" sz="1200" dirty="0" err="1" smtClean="0"/>
                        <a:t>Gawade</a:t>
                      </a:r>
                      <a:r>
                        <a:rPr lang="en-US" sz="1200" dirty="0" smtClean="0"/>
                        <a:t>* and R.P. </a:t>
                      </a:r>
                      <a:r>
                        <a:rPr lang="en-US" sz="1200" dirty="0" err="1" smtClean="0"/>
                        <a:t>Chauhan</a:t>
                      </a:r>
                      <a:endParaRPr lang="en-IN" sz="1200" dirty="0">
                        <a:latin typeface="Times New Roman" pitchFamily="18" charset="0"/>
                        <a:cs typeface="Times New Roman" pitchFamily="18" charset="0"/>
                      </a:endParaRPr>
                    </a:p>
                  </a:txBody>
                  <a:tcPr/>
                </a:tc>
                <a:tc>
                  <a:txBody>
                    <a:bodyPr/>
                    <a:lstStyle/>
                    <a:p>
                      <a:r>
                        <a:rPr lang="en-US" sz="1200" dirty="0" smtClean="0"/>
                        <a:t>International Journal of Advanced Technology and Engineering Exploration, 2016</a:t>
                      </a:r>
                      <a:endParaRPr lang="en-IN" sz="1200" dirty="0">
                        <a:latin typeface="Times New Roman" pitchFamily="18" charset="0"/>
                        <a:cs typeface="Times New Roman" pitchFamily="18" charset="0"/>
                      </a:endParaRPr>
                    </a:p>
                  </a:txBody>
                  <a:tcPr/>
                </a:tc>
                <a:tc>
                  <a:txBody>
                    <a:bodyPr/>
                    <a:lstStyle/>
                    <a:p>
                      <a:r>
                        <a:rPr lang="en-US" sz="1200" dirty="0" smtClean="0"/>
                        <a:t>Detection of lung cancer using image processing techniques </a:t>
                      </a:r>
                      <a:endParaRPr lang="en-IN" sz="1200" dirty="0">
                        <a:latin typeface="Times New Roman" pitchFamily="18" charset="0"/>
                        <a:cs typeface="Times New Roman" pitchFamily="18" charset="0"/>
                      </a:endParaRPr>
                    </a:p>
                  </a:txBody>
                  <a:tcPr/>
                </a:tc>
                <a:tc>
                  <a:txBody>
                    <a:bodyPr/>
                    <a:lstStyle/>
                    <a:p>
                      <a:pPr algn="just"/>
                      <a:r>
                        <a:rPr lang="en-US" sz="1200" dirty="0" smtClean="0"/>
                        <a:t>The diagnosis of lung cancer at an early stage is of utmost importance if it is meant to degrade high mortality rate. The global lung screening program points to visualize positron emission tomography (PET) and computed tomography (CT) examinations amongst most aged groups at risk to enhance the early detection rate. Although use of invasive techniques, symptoms hardly appear until disease is advanced making it difficult for radiologist to identify lesions.</a:t>
                      </a:r>
                      <a:endParaRPr lang="en-IN" sz="1200" dirty="0"/>
                    </a:p>
                  </a:txBody>
                  <a:tcPr/>
                </a:tc>
              </a:tr>
            </a:tbl>
          </a:graphicData>
        </a:graphic>
      </p:graphicFrame>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1736964358"/>
              </p:ext>
            </p:extLst>
          </p:nvPr>
        </p:nvGraphicFramePr>
        <p:xfrm>
          <a:off x="212652" y="487681"/>
          <a:ext cx="8718696" cy="6339840"/>
        </p:xfrm>
        <a:graphic>
          <a:graphicData uri="http://schemas.openxmlformats.org/drawingml/2006/table">
            <a:tbl>
              <a:tblPr firstRow="1" bandRow="1">
                <a:tableStyleId>{073A0DAA-6AF3-43AB-8588-CEC1D06C72B9}</a:tableStyleId>
              </a:tblPr>
              <a:tblGrid>
                <a:gridCol w="534167"/>
                <a:gridCol w="1056581"/>
                <a:gridCol w="1559933"/>
                <a:gridCol w="1294676"/>
                <a:gridCol w="4273339"/>
              </a:tblGrid>
              <a:tr h="551033">
                <a:tc>
                  <a:txBody>
                    <a:bodyPr/>
                    <a:lstStyle/>
                    <a:p>
                      <a:pPr algn="ctr"/>
                      <a:r>
                        <a:rPr lang="en-US" sz="1200" dirty="0" smtClean="0"/>
                        <a:t>Sr.No.</a:t>
                      </a:r>
                      <a:endParaRPr lang="en-IN" sz="1200" dirty="0"/>
                    </a:p>
                  </a:txBody>
                  <a:tcPr/>
                </a:tc>
                <a:tc>
                  <a:txBody>
                    <a:bodyPr/>
                    <a:lstStyle/>
                    <a:p>
                      <a:pPr algn="ctr"/>
                      <a:r>
                        <a:rPr lang="en-US" sz="1600" dirty="0" smtClean="0"/>
                        <a:t>Author Name</a:t>
                      </a:r>
                      <a:endParaRPr lang="en-IN" sz="1600" dirty="0"/>
                    </a:p>
                  </a:txBody>
                  <a:tcPr/>
                </a:tc>
                <a:tc>
                  <a:txBody>
                    <a:bodyPr/>
                    <a:lstStyle/>
                    <a:p>
                      <a:pPr algn="ctr"/>
                      <a:r>
                        <a:rPr lang="en-US" sz="1600" dirty="0" smtClean="0"/>
                        <a:t>Journal </a:t>
                      </a:r>
                      <a:endParaRPr lang="en-IN" sz="1600" dirty="0"/>
                    </a:p>
                  </a:txBody>
                  <a:tcPr/>
                </a:tc>
                <a:tc>
                  <a:txBody>
                    <a:bodyPr/>
                    <a:lstStyle/>
                    <a:p>
                      <a:pPr algn="ctr"/>
                      <a:r>
                        <a:rPr lang="en-US" sz="1600" dirty="0" smtClean="0"/>
                        <a:t>Name</a:t>
                      </a:r>
                      <a:endParaRPr lang="en-IN" sz="1600" dirty="0"/>
                    </a:p>
                  </a:txBody>
                  <a:tcPr/>
                </a:tc>
                <a:tc>
                  <a:txBody>
                    <a:bodyPr/>
                    <a:lstStyle/>
                    <a:p>
                      <a:pPr algn="ctr"/>
                      <a:r>
                        <a:rPr lang="en-US" sz="1600" dirty="0" smtClean="0"/>
                        <a:t>Description</a:t>
                      </a:r>
                      <a:endParaRPr lang="en-IN" sz="1600" dirty="0"/>
                    </a:p>
                  </a:txBody>
                  <a:tcPr/>
                </a:tc>
              </a:tr>
              <a:tr h="2001121">
                <a:tc>
                  <a:txBody>
                    <a:bodyPr/>
                    <a:lstStyle/>
                    <a:p>
                      <a:pPr algn="ctr"/>
                      <a:r>
                        <a:rPr lang="en-US" sz="1200" dirty="0" smtClean="0"/>
                        <a:t>4</a:t>
                      </a:r>
                      <a:endParaRPr lang="en-IN" sz="1200" dirty="0"/>
                    </a:p>
                  </a:txBody>
                  <a:tcPr/>
                </a:tc>
                <a:tc>
                  <a:txBody>
                    <a:bodyPr/>
                    <a:lstStyle/>
                    <a:p>
                      <a:r>
                        <a:rPr lang="en-IN" sz="1100" dirty="0" smtClean="0"/>
                        <a:t>Hunter Park, Connor Monahan </a:t>
                      </a:r>
                      <a:endParaRPr lang="en-IN" sz="1100" dirty="0"/>
                    </a:p>
                  </a:txBody>
                  <a:tcPr/>
                </a:tc>
                <a:tc>
                  <a:txBody>
                    <a:bodyPr/>
                    <a:lstStyle/>
                    <a:p>
                      <a:r>
                        <a:rPr lang="en-IN" sz="1100" dirty="0" smtClean="0"/>
                        <a:t>IJCERT,</a:t>
                      </a:r>
                      <a:r>
                        <a:rPr lang="en-IN" sz="1100" baseline="0" dirty="0" smtClean="0"/>
                        <a:t> </a:t>
                      </a:r>
                      <a:r>
                        <a:rPr lang="en-IN" sz="1100" dirty="0" smtClean="0"/>
                        <a:t>July 30, 2019 </a:t>
                      </a:r>
                      <a:endParaRPr kumimoji="0" lang="en-IN" sz="1100" b="0" i="0" kern="1200" dirty="0">
                        <a:solidFill>
                          <a:schemeClr val="dk1"/>
                        </a:solidFill>
                        <a:effectLst/>
                        <a:latin typeface="+mn-lt"/>
                        <a:ea typeface="+mn-ea"/>
                        <a:cs typeface="+mn-cs"/>
                      </a:endParaRPr>
                    </a:p>
                  </a:txBody>
                  <a:tcPr/>
                </a:tc>
                <a:tc>
                  <a:txBody>
                    <a:bodyPr/>
                    <a:lstStyle/>
                    <a:p>
                      <a:r>
                        <a:rPr lang="en-US" sz="1100" dirty="0" smtClean="0"/>
                        <a:t>Genetic Deep Learning for Lung Cancer Screening</a:t>
                      </a:r>
                      <a:endParaRPr kumimoji="0" lang="en-IN" sz="1100" b="0" i="0" kern="1200" dirty="0">
                        <a:solidFill>
                          <a:schemeClr val="dk1"/>
                        </a:solidFill>
                        <a:effectLst/>
                        <a:latin typeface="+mn-lt"/>
                        <a:ea typeface="+mn-ea"/>
                        <a:cs typeface="+mn-cs"/>
                      </a:endParaRPr>
                    </a:p>
                  </a:txBody>
                  <a:tcPr/>
                </a:tc>
                <a:tc>
                  <a:txBody>
                    <a:bodyPr/>
                    <a:lstStyle/>
                    <a:p>
                      <a:pPr algn="just"/>
                      <a:r>
                        <a:rPr lang="en-US" sz="1100" dirty="0" smtClean="0"/>
                        <a:t>Convolutional neural networks (CNNs) have shown great promise in improving computer aided detection (</a:t>
                      </a:r>
                      <a:r>
                        <a:rPr lang="en-US" sz="1100" dirty="0" err="1" smtClean="0"/>
                        <a:t>CADe</a:t>
                      </a:r>
                      <a:r>
                        <a:rPr lang="en-US" sz="1100" dirty="0" smtClean="0"/>
                        <a:t>). From classifying tumors found via mammography as benign or malignant to automated detection of colorectal polyps in CT </a:t>
                      </a:r>
                      <a:r>
                        <a:rPr lang="en-US" sz="1100" dirty="0" err="1" smtClean="0"/>
                        <a:t>colonography</a:t>
                      </a:r>
                      <a:r>
                        <a:rPr lang="en-US" sz="1100" dirty="0" smtClean="0"/>
                        <a:t>, these advances have helped reduce the need for further evaluation with invasive testing and prevent errors from missed diagnoses by acting as a second observer in today’s fast paced and high volume clinical environment. </a:t>
                      </a:r>
                      <a:r>
                        <a:rPr lang="en-US" sz="1100" dirty="0" err="1" smtClean="0"/>
                        <a:t>CADe</a:t>
                      </a:r>
                      <a:r>
                        <a:rPr lang="en-US" sz="1100" dirty="0" smtClean="0"/>
                        <a:t> methods have become faster and more precise thanks to innovations in deep learning over the past several years. With advancements such as the inception module and utilization of residual connections, the approach to designing CNN architectures has become an art.</a:t>
                      </a:r>
                      <a:endParaRPr lang="en-IN" sz="1100" dirty="0"/>
                    </a:p>
                  </a:txBody>
                  <a:tcPr/>
                </a:tc>
              </a:tr>
              <a:tr h="1479089">
                <a:tc>
                  <a:txBody>
                    <a:bodyPr/>
                    <a:lstStyle/>
                    <a:p>
                      <a:pPr algn="ctr"/>
                      <a:r>
                        <a:rPr lang="en-US" sz="1200" dirty="0" smtClean="0"/>
                        <a:t>5</a:t>
                      </a:r>
                      <a:endParaRPr lang="en-IN" sz="1200" dirty="0"/>
                    </a:p>
                  </a:txBody>
                  <a:tcPr/>
                </a:tc>
                <a:tc>
                  <a:txBody>
                    <a:bodyPr/>
                    <a:lstStyle/>
                    <a:p>
                      <a:pPr algn="just"/>
                      <a:r>
                        <a:rPr lang="nn-NO" sz="1200" dirty="0" smtClean="0"/>
                        <a:t>K. Senthil Kumar , K. Venkatalakshmi ,</a:t>
                      </a:r>
                      <a:r>
                        <a:rPr lang="nn-NO" sz="1200" baseline="0" dirty="0" smtClean="0"/>
                        <a:t> </a:t>
                      </a:r>
                      <a:r>
                        <a:rPr lang="nn-NO" sz="1200" dirty="0" smtClean="0"/>
                        <a:t>and K. Karthikeyan</a:t>
                      </a:r>
                      <a:endParaRPr lang="en-IN" sz="1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Computational and Mathematical Methods in Medicine Volume 2019</a:t>
                      </a:r>
                      <a:endParaRPr lang="en-IN" sz="1200" dirty="0" smtClean="0"/>
                    </a:p>
                    <a:p>
                      <a:pPr algn="l"/>
                      <a:endParaRPr lang="en-IN" sz="1200" dirty="0"/>
                    </a:p>
                  </a:txBody>
                  <a:tcPr/>
                </a:tc>
                <a:tc>
                  <a:txBody>
                    <a:bodyPr/>
                    <a:lstStyle/>
                    <a:p>
                      <a:pPr algn="l"/>
                      <a:r>
                        <a:rPr lang="en-US" sz="1200" dirty="0" smtClean="0"/>
                        <a:t>Lung Cancer Detection Using Image Segmentation by means of Various Evolutionary Algorithms</a:t>
                      </a:r>
                      <a:endParaRPr lang="en-IN" sz="1200" dirty="0"/>
                    </a:p>
                  </a:txBody>
                  <a:tcPr/>
                </a:tc>
                <a:tc>
                  <a:txBody>
                    <a:bodyPr/>
                    <a:lstStyle/>
                    <a:p>
                      <a:pPr algn="just"/>
                      <a:r>
                        <a:rPr lang="en-US" sz="1200" dirty="0" smtClean="0"/>
                        <a:t>various optimization algorithms have been evaluated to detect the tumor. Medical images often need preprocessing before being subjected to statistical analysis. +e adaptive median filter has better results than median and mean filters because the speckle suppression index and speckle and mean preservation index values are lower for the adaptive median filter. Comparing the five algorithms, the accuracy of the tumor extraction is improved</a:t>
                      </a:r>
                      <a:endParaRPr lang="en-IN" sz="1200" dirty="0"/>
                    </a:p>
                  </a:txBody>
                  <a:tcPr/>
                </a:tc>
              </a:tr>
              <a:tr h="2072375">
                <a:tc>
                  <a:txBody>
                    <a:bodyPr/>
                    <a:lstStyle/>
                    <a:p>
                      <a:pPr algn="ctr"/>
                      <a:r>
                        <a:rPr lang="en-US" sz="1100" dirty="0" smtClean="0">
                          <a:solidFill>
                            <a:schemeClr val="tx1"/>
                          </a:solidFill>
                          <a:latin typeface="Times New Roman" pitchFamily="18" charset="0"/>
                          <a:cs typeface="Times New Roman" pitchFamily="18" charset="0"/>
                        </a:rPr>
                        <a:t>6</a:t>
                      </a:r>
                      <a:endParaRPr lang="en-IN" sz="1100" dirty="0">
                        <a:solidFill>
                          <a:schemeClr val="tx1"/>
                        </a:solidFill>
                        <a:latin typeface="Times New Roman" pitchFamily="18" charset="0"/>
                        <a:cs typeface="Times New Roman" pitchFamily="18" charset="0"/>
                      </a:endParaRPr>
                    </a:p>
                  </a:txBody>
                  <a:tcPr/>
                </a:tc>
                <a:tc>
                  <a:txBody>
                    <a:bodyPr/>
                    <a:lstStyle/>
                    <a:p>
                      <a:pPr algn="just"/>
                      <a:r>
                        <a:rPr lang="en-IN" sz="1100" dirty="0" err="1" smtClean="0"/>
                        <a:t>K.Mohanambal</a:t>
                      </a:r>
                      <a:r>
                        <a:rPr lang="en-IN" sz="1100" dirty="0" smtClean="0"/>
                        <a:t>, </a:t>
                      </a:r>
                      <a:r>
                        <a:rPr lang="en-IN" sz="1100" dirty="0" err="1" smtClean="0"/>
                        <a:t>Y.Nirosha</a:t>
                      </a:r>
                      <a:r>
                        <a:rPr lang="en-IN" sz="1100" dirty="0" smtClean="0"/>
                        <a:t>, </a:t>
                      </a:r>
                      <a:r>
                        <a:rPr lang="en-IN" sz="1100" dirty="0" err="1" smtClean="0"/>
                        <a:t>E.Oliviya</a:t>
                      </a:r>
                      <a:r>
                        <a:rPr lang="en-IN" sz="1100" dirty="0" smtClean="0"/>
                        <a:t> </a:t>
                      </a:r>
                      <a:r>
                        <a:rPr lang="en-IN" sz="1100" dirty="0" err="1" smtClean="0"/>
                        <a:t>Roshini</a:t>
                      </a:r>
                      <a:r>
                        <a:rPr lang="en-IN" sz="1100" dirty="0" smtClean="0"/>
                        <a:t>,</a:t>
                      </a:r>
                      <a:r>
                        <a:rPr lang="en-IN" sz="1100" baseline="0" dirty="0" smtClean="0"/>
                        <a:t> </a:t>
                      </a:r>
                      <a:r>
                        <a:rPr lang="en-IN" sz="1100" dirty="0" smtClean="0"/>
                        <a:t> </a:t>
                      </a:r>
                      <a:r>
                        <a:rPr lang="en-IN" sz="1100" dirty="0" err="1" smtClean="0"/>
                        <a:t>S.Punitha</a:t>
                      </a:r>
                      <a:r>
                        <a:rPr lang="en-IN" sz="1100" dirty="0" smtClean="0"/>
                        <a:t>, </a:t>
                      </a:r>
                      <a:r>
                        <a:rPr lang="en-IN" sz="1100" dirty="0" err="1" smtClean="0"/>
                        <a:t>M.Shamini</a:t>
                      </a:r>
                      <a:endParaRPr lang="en-IN" sz="1100" dirty="0">
                        <a:solidFill>
                          <a:schemeClr val="bg1"/>
                        </a:solidFill>
                        <a:latin typeface="Times New Roman" pitchFamily="18" charset="0"/>
                        <a:cs typeface="Times New Roman" pitchFamily="18" charset="0"/>
                      </a:endParaRPr>
                    </a:p>
                  </a:txBody>
                  <a:tcPr/>
                </a:tc>
                <a:tc>
                  <a:txBody>
                    <a:bodyPr/>
                    <a:lstStyle/>
                    <a:p>
                      <a:pPr algn="just"/>
                      <a:r>
                        <a:rPr lang="en-US" sz="1100" dirty="0" smtClean="0"/>
                        <a:t>International Journal of Advanced Research in Electrical, Electronics and Instrumentation Engineering </a:t>
                      </a:r>
                    </a:p>
                    <a:p>
                      <a:pPr algn="just"/>
                      <a:r>
                        <a:rPr lang="en-US" sz="1100" dirty="0" smtClean="0">
                          <a:solidFill>
                            <a:schemeClr val="tx1"/>
                          </a:solidFill>
                          <a:latin typeface="Times New Roman" pitchFamily="18" charset="0"/>
                          <a:cs typeface="Times New Roman" pitchFamily="18" charset="0"/>
                        </a:rPr>
                        <a:t>Feb 2019</a:t>
                      </a:r>
                      <a:endParaRPr lang="en-IN" sz="1100" dirty="0">
                        <a:solidFill>
                          <a:schemeClr val="tx1"/>
                        </a:solidFill>
                        <a:latin typeface="Times New Roman" pitchFamily="18" charset="0"/>
                        <a:cs typeface="Times New Roman" pitchFamily="18" charset="0"/>
                      </a:endParaRPr>
                    </a:p>
                  </a:txBody>
                  <a:tcPr/>
                </a:tc>
                <a:tc>
                  <a:txBody>
                    <a:bodyPr/>
                    <a:lstStyle/>
                    <a:p>
                      <a:pPr algn="just"/>
                      <a:r>
                        <a:rPr lang="en-US" sz="1100" dirty="0" smtClean="0"/>
                        <a:t>Lung Cancer Detection Using Machine Learning Techniques</a:t>
                      </a:r>
                      <a:endParaRPr lang="en-IN" sz="1100" dirty="0">
                        <a:solidFill>
                          <a:schemeClr val="bg1"/>
                        </a:solidFill>
                        <a:latin typeface="Times New Roman" pitchFamily="18" charset="0"/>
                        <a:cs typeface="Times New Roman" pitchFamily="18" charset="0"/>
                      </a:endParaRPr>
                    </a:p>
                  </a:txBody>
                  <a:tcPr/>
                </a:tc>
                <a:tc>
                  <a:txBody>
                    <a:bodyPr/>
                    <a:lstStyle/>
                    <a:p>
                      <a:pPr algn="just"/>
                      <a:r>
                        <a:rPr lang="en-US" sz="1100" dirty="0" smtClean="0"/>
                        <a:t>The computed tomography(CT) </a:t>
                      </a:r>
                      <a:r>
                        <a:rPr lang="en-US" sz="1100" dirty="0" err="1" smtClean="0"/>
                        <a:t>scanfrom</a:t>
                      </a:r>
                      <a:r>
                        <a:rPr lang="en-US" sz="1100" dirty="0" smtClean="0"/>
                        <a:t> the lung image database consortium and image database resource initiative datasets provide knowledge concerning nodule positions and their malignancy levels is been deployed here as a model. Support vector machine is been used as a classifier which is (i) to classify the nodule images into malignant or benign nodules and (ii) to classify the lung nodules into malignancy levels (1 to 5).These experimental results reveal that the SCM successfully extracted features of the nodules from the images and, therefore may be considered as a promising tool to support medical specialist to make a more precise diagnosis concerning the malignancy of lung nodules</a:t>
                      </a:r>
                      <a:endParaRPr lang="en-IN" sz="1100" dirty="0">
                        <a:solidFill>
                          <a:schemeClr val="bg1"/>
                        </a:solidFill>
                        <a:latin typeface="Times New Roman" pitchFamily="18" charset="0"/>
                        <a:cs typeface="Times New Roman" pitchFamily="18" charset="0"/>
                      </a:endParaRPr>
                    </a:p>
                  </a:txBody>
                  <a:tcPr/>
                </a:tc>
              </a:tr>
            </a:tbl>
          </a:graphicData>
        </a:graphic>
      </p:graphicFrame>
    </p:spTree>
    <p:extLst>
      <p:ext uri="{BB962C8B-B14F-4D97-AF65-F5344CB8AC3E}">
        <p14:creationId xmlns:p14="http://schemas.microsoft.com/office/powerpoint/2010/main" val="219572071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1603"/>
          </a:xfrm>
        </p:spPr>
        <p:txBody>
          <a:bodyPr/>
          <a:lstStyle/>
          <a:p>
            <a:r>
              <a:rPr dirty="0"/>
              <a:t>Software</a:t>
            </a:r>
          </a:p>
        </p:txBody>
      </p:sp>
      <p:sp>
        <p:nvSpPr>
          <p:cNvPr id="3" name="Content Placeholder 2"/>
          <p:cNvSpPr>
            <a:spLocks noGrp="1"/>
          </p:cNvSpPr>
          <p:nvPr>
            <p:ph idx="1"/>
          </p:nvPr>
        </p:nvSpPr>
        <p:spPr>
          <a:xfrm>
            <a:off x="457200" y="1137684"/>
            <a:ext cx="8229600" cy="4286573"/>
          </a:xfrm>
        </p:spPr>
        <p:txBody>
          <a:bodyPr>
            <a:normAutofit/>
          </a:bodyPr>
          <a:lstStyle/>
          <a:p>
            <a:pPr marL="342900" indent="-342900">
              <a:lnSpc>
                <a:spcPct val="150000"/>
              </a:lnSpc>
              <a:buFont typeface="Wingdings" pitchFamily="2" charset="2"/>
              <a:buChar char="q"/>
            </a:pPr>
            <a:r>
              <a:rPr lang="en-US" sz="2000" dirty="0" smtClean="0"/>
              <a:t>Anaconda</a:t>
            </a:r>
          </a:p>
          <a:p>
            <a:pPr marL="342900" indent="-342900">
              <a:lnSpc>
                <a:spcPct val="150000"/>
              </a:lnSpc>
              <a:buFont typeface="Wingdings" pitchFamily="2" charset="2"/>
              <a:buChar char="q"/>
            </a:pPr>
            <a:r>
              <a:rPr lang="en-US" sz="2000" dirty="0" smtClean="0"/>
              <a:t>Python3.0</a:t>
            </a:r>
          </a:p>
          <a:p>
            <a:pPr marL="342900" indent="-342900">
              <a:lnSpc>
                <a:spcPct val="150000"/>
              </a:lnSpc>
              <a:buFont typeface="Wingdings" pitchFamily="2" charset="2"/>
              <a:buChar char="q"/>
            </a:pPr>
            <a:r>
              <a:rPr lang="en-US" sz="2000" dirty="0" smtClean="0"/>
              <a:t>All Libraries of Python</a:t>
            </a:r>
          </a:p>
          <a:p>
            <a:pPr marL="45720" indent="0">
              <a:lnSpc>
                <a:spcPct val="150000"/>
              </a:lnSpc>
              <a:buNone/>
            </a:pPr>
            <a:r>
              <a:rPr lang="en-US" sz="4000" dirty="0">
                <a:solidFill>
                  <a:schemeClr val="tx2"/>
                </a:solidFill>
                <a:latin typeface="+mj-lt"/>
                <a:ea typeface="+mj-ea"/>
                <a:cs typeface="+mj-cs"/>
              </a:rPr>
              <a:t>Hardware</a:t>
            </a:r>
          </a:p>
          <a:p>
            <a:pPr marL="342900" indent="-342900">
              <a:lnSpc>
                <a:spcPct val="150000"/>
              </a:lnSpc>
              <a:buFont typeface="Wingdings" pitchFamily="2" charset="2"/>
              <a:buChar char="q"/>
            </a:pPr>
            <a:r>
              <a:rPr lang="en-US" dirty="0"/>
              <a:t>Processor: 1 gigahertz (GHz) or faster processor or </a:t>
            </a:r>
            <a:r>
              <a:rPr lang="en-US" dirty="0" err="1"/>
              <a:t>SoC.</a:t>
            </a:r>
            <a:endParaRPr lang="en-US" dirty="0"/>
          </a:p>
          <a:p>
            <a:pPr marL="342900" indent="-342900">
              <a:lnSpc>
                <a:spcPct val="150000"/>
              </a:lnSpc>
              <a:buFont typeface="Wingdings" pitchFamily="2" charset="2"/>
              <a:buChar char="q"/>
            </a:pPr>
            <a:r>
              <a:rPr lang="en-US" dirty="0"/>
              <a:t>RAM: 1 gigabyte (GB) for 32-bit or 2 GB for 64-bit.</a:t>
            </a:r>
          </a:p>
          <a:p>
            <a:pPr marL="342900" indent="-342900">
              <a:lnSpc>
                <a:spcPct val="150000"/>
              </a:lnSpc>
              <a:buFont typeface="Wingdings" pitchFamily="2" charset="2"/>
              <a:buChar char="q"/>
            </a:pPr>
            <a:r>
              <a:rPr lang="en-US" dirty="0"/>
              <a:t>Hard disk space: 16 GB for 32-bit OS 20 GB for 64-bit OS</a:t>
            </a:r>
          </a:p>
          <a:p>
            <a:pPr>
              <a:lnSpc>
                <a:spcPct val="150000"/>
              </a:lnSpc>
            </a:pPr>
            <a:endParaRPr lang="en-US" dirty="0"/>
          </a:p>
          <a:p>
            <a:pPr>
              <a:lnSpc>
                <a:spcPct val="150000"/>
              </a:lnSpc>
            </a:pPr>
            <a:endParaRPr lang="en-US" sz="20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4840"/>
            <a:ext cx="8229600" cy="657517"/>
          </a:xfrm>
        </p:spPr>
        <p:txBody>
          <a:bodyPr>
            <a:normAutofit fontScale="90000"/>
          </a:bodyPr>
          <a:lstStyle/>
          <a:p>
            <a:r>
              <a:rPr dirty="0"/>
              <a:t>Project Scope</a:t>
            </a:r>
          </a:p>
        </p:txBody>
      </p:sp>
      <p:sp>
        <p:nvSpPr>
          <p:cNvPr id="3" name="Rectangle 2"/>
          <p:cNvSpPr/>
          <p:nvPr/>
        </p:nvSpPr>
        <p:spPr>
          <a:xfrm>
            <a:off x="457200" y="1143000"/>
            <a:ext cx="8115300" cy="2677656"/>
          </a:xfrm>
          <a:prstGeom prst="rect">
            <a:avLst/>
          </a:prstGeom>
        </p:spPr>
        <p:txBody>
          <a:bodyPr wrap="square">
            <a:spAutoFit/>
          </a:bodyPr>
          <a:lstStyle/>
          <a:p>
            <a:pPr algn="just"/>
            <a:endParaRPr lang="en-US" sz="2400" dirty="0" smtClean="0"/>
          </a:p>
          <a:p>
            <a:pPr algn="just"/>
            <a:endParaRPr lang="en-US" sz="2400" dirty="0"/>
          </a:p>
          <a:p>
            <a:pPr algn="just"/>
            <a:r>
              <a:rPr lang="en-US" sz="2400" dirty="0" smtClean="0"/>
              <a:t>The </a:t>
            </a:r>
            <a:r>
              <a:rPr lang="en-US" sz="2400" dirty="0"/>
              <a:t>system will be trained with large datasets to diagnose the type of cancer with its size and shape. The overall accuracy of the system can be improved using </a:t>
            </a:r>
            <a:r>
              <a:rPr lang="en-US" sz="2400" dirty="0" smtClean="0"/>
              <a:t> </a:t>
            </a:r>
            <a:r>
              <a:rPr lang="en-US" sz="2400" dirty="0"/>
              <a:t>Convolutional Neural Network and also by improving the hidden neurons with deep network.</a:t>
            </a:r>
            <a:endParaRPr lang="en-IN" sz="240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17536"/>
            <a:ext cx="8229600" cy="835071"/>
          </a:xfrm>
        </p:spPr>
        <p:txBody>
          <a:bodyPr>
            <a:normAutofit/>
          </a:bodyPr>
          <a:lstStyle/>
          <a:p>
            <a:r>
              <a:rPr lang="en-US" sz="2000" dirty="0" smtClean="0"/>
              <a:t>FLOW CHART</a:t>
            </a:r>
            <a:endParaRPr sz="2000" dirty="0"/>
          </a:p>
        </p:txBody>
      </p:sp>
      <p:pic>
        <p:nvPicPr>
          <p:cNvPr id="4" name="Picture 3"/>
          <p:cNvPicPr/>
          <p:nvPr/>
        </p:nvPicPr>
        <p:blipFill>
          <a:blip r:embed="rId2"/>
          <a:stretch>
            <a:fillRect/>
          </a:stretch>
        </p:blipFill>
        <p:spPr>
          <a:xfrm>
            <a:off x="973394" y="417535"/>
            <a:ext cx="7297770" cy="6440465"/>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35071"/>
          </a:xfrm>
        </p:spPr>
        <p:txBody>
          <a:bodyPr/>
          <a:lstStyle/>
          <a:p>
            <a:r>
              <a:rPr dirty="0"/>
              <a:t>Algorithms</a:t>
            </a:r>
          </a:p>
        </p:txBody>
      </p:sp>
      <p:sp>
        <p:nvSpPr>
          <p:cNvPr id="15" name="Rectangle 14"/>
          <p:cNvSpPr/>
          <p:nvPr/>
        </p:nvSpPr>
        <p:spPr>
          <a:xfrm>
            <a:off x="254000" y="1255048"/>
            <a:ext cx="8610600" cy="5355312"/>
          </a:xfrm>
          <a:prstGeom prst="rect">
            <a:avLst/>
          </a:prstGeom>
        </p:spPr>
        <p:txBody>
          <a:bodyPr wrap="square">
            <a:spAutoFit/>
          </a:bodyPr>
          <a:lstStyle/>
          <a:p>
            <a:pPr marL="285750" indent="-285750" algn="just">
              <a:buFont typeface="Wingdings" pitchFamily="2" charset="2"/>
              <a:buChar char="Ø"/>
            </a:pPr>
            <a:r>
              <a:rPr lang="en-US" b="1" dirty="0"/>
              <a:t>STEP-1:</a:t>
            </a:r>
            <a:r>
              <a:rPr lang="en-US" dirty="0"/>
              <a:t> Collect the lung cancer images from respective cancer </a:t>
            </a:r>
            <a:r>
              <a:rPr lang="en-US" dirty="0" smtClean="0"/>
              <a:t>Dataset.</a:t>
            </a:r>
            <a:endParaRPr lang="en-IN" dirty="0"/>
          </a:p>
          <a:p>
            <a:pPr marL="285750" indent="-285750" algn="just">
              <a:buFont typeface="Wingdings" pitchFamily="2" charset="2"/>
              <a:buChar char="Ø"/>
            </a:pPr>
            <a:endParaRPr lang="en-US" b="1" dirty="0" smtClean="0"/>
          </a:p>
          <a:p>
            <a:pPr marL="285750" indent="-285750" algn="just">
              <a:buFont typeface="Wingdings" pitchFamily="2" charset="2"/>
              <a:buChar char="Ø"/>
            </a:pPr>
            <a:r>
              <a:rPr lang="en-US" b="1" dirty="0" smtClean="0"/>
              <a:t>STEP-2</a:t>
            </a:r>
            <a:r>
              <a:rPr lang="en-US" b="1" dirty="0"/>
              <a:t>:</a:t>
            </a:r>
            <a:r>
              <a:rPr lang="en-US" dirty="0"/>
              <a:t> Analyze the dataset for variety of lung cancer’s information present in the database.</a:t>
            </a:r>
            <a:endParaRPr lang="en-IN" dirty="0"/>
          </a:p>
          <a:p>
            <a:pPr marL="342900" indent="-342900" algn="just">
              <a:buFont typeface="Wingdings" pitchFamily="2" charset="2"/>
              <a:buChar char="Ø"/>
            </a:pPr>
            <a:endParaRPr lang="en-US" b="1" dirty="0" smtClean="0"/>
          </a:p>
          <a:p>
            <a:pPr marL="342900" indent="-342900" algn="just">
              <a:buFont typeface="Wingdings" pitchFamily="2" charset="2"/>
              <a:buChar char="Ø"/>
            </a:pPr>
            <a:r>
              <a:rPr lang="en-US" b="1" dirty="0" smtClean="0"/>
              <a:t>STEP-3</a:t>
            </a:r>
            <a:r>
              <a:rPr lang="en-US" b="1" dirty="0"/>
              <a:t>:</a:t>
            </a:r>
            <a:r>
              <a:rPr lang="en-US" dirty="0"/>
              <a:t> Prepare the methodology for lung cancer detection model development and training-&amp;-testing. </a:t>
            </a:r>
            <a:endParaRPr lang="en-IN" dirty="0"/>
          </a:p>
          <a:p>
            <a:pPr marL="342900" indent="-342900" algn="just">
              <a:buFont typeface="Wingdings" pitchFamily="2" charset="2"/>
              <a:buChar char="Ø"/>
            </a:pPr>
            <a:endParaRPr lang="en-US" b="1" dirty="0" smtClean="0"/>
          </a:p>
          <a:p>
            <a:pPr marL="342900" indent="-342900" algn="just">
              <a:buFont typeface="Wingdings" pitchFamily="2" charset="2"/>
              <a:buChar char="Ø"/>
            </a:pPr>
            <a:r>
              <a:rPr lang="en-US" b="1" dirty="0" smtClean="0"/>
              <a:t>STEP-4</a:t>
            </a:r>
            <a:r>
              <a:rPr lang="en-US" b="1" dirty="0"/>
              <a:t>:</a:t>
            </a:r>
            <a:r>
              <a:rPr lang="en-US" dirty="0"/>
              <a:t> Prepare the dataset, with data augmentation for training. </a:t>
            </a:r>
            <a:endParaRPr lang="en-IN" dirty="0"/>
          </a:p>
          <a:p>
            <a:pPr marL="342900" indent="-342900" algn="just">
              <a:buFont typeface="Wingdings" pitchFamily="2" charset="2"/>
              <a:buChar char="Ø"/>
            </a:pPr>
            <a:endParaRPr lang="en-US" b="1" dirty="0" smtClean="0"/>
          </a:p>
          <a:p>
            <a:pPr marL="342900" indent="-342900" algn="just">
              <a:buFont typeface="Wingdings" pitchFamily="2" charset="2"/>
              <a:buChar char="Ø"/>
            </a:pPr>
            <a:r>
              <a:rPr lang="en-US" b="1" dirty="0" smtClean="0"/>
              <a:t>STEP-5</a:t>
            </a:r>
            <a:r>
              <a:rPr lang="en-US" b="1" dirty="0"/>
              <a:t>:</a:t>
            </a:r>
            <a:r>
              <a:rPr lang="en-US" dirty="0"/>
              <a:t> Design the Deep CNN architecture to identify the Lung Cancer in the CT scan image. Train the model.</a:t>
            </a:r>
            <a:endParaRPr lang="en-IN" dirty="0"/>
          </a:p>
          <a:p>
            <a:pPr marL="342900" indent="-342900">
              <a:buFont typeface="Wingdings" pitchFamily="2" charset="2"/>
              <a:buChar char="Ø"/>
            </a:pPr>
            <a:endParaRPr lang="en-US" b="1" dirty="0" smtClean="0"/>
          </a:p>
          <a:p>
            <a:pPr marL="342900" indent="-342900">
              <a:buFont typeface="Wingdings" pitchFamily="2" charset="2"/>
              <a:buChar char="Ø"/>
            </a:pPr>
            <a:r>
              <a:rPr lang="en-US" b="1" dirty="0" smtClean="0"/>
              <a:t>STEP-6</a:t>
            </a:r>
            <a:r>
              <a:rPr lang="en-US" b="1" dirty="0"/>
              <a:t>: </a:t>
            </a:r>
            <a:r>
              <a:rPr lang="en-US" dirty="0"/>
              <a:t>Train the CNN model and measure its performance.</a:t>
            </a:r>
            <a:r>
              <a:rPr lang="en-US" b="1" dirty="0"/>
              <a:t> </a:t>
            </a:r>
            <a:r>
              <a:rPr lang="en-US" dirty="0"/>
              <a:t>Finetune the algorithm if </a:t>
            </a:r>
            <a:r>
              <a:rPr lang="en-US" dirty="0" smtClean="0"/>
              <a:t>necessary</a:t>
            </a:r>
            <a:r>
              <a:rPr lang="en-US" b="1" dirty="0"/>
              <a:t/>
            </a:r>
            <a:br>
              <a:rPr lang="en-US" b="1" dirty="0"/>
            </a:br>
            <a:endParaRPr lang="en-US" b="1" dirty="0" smtClean="0"/>
          </a:p>
          <a:p>
            <a:pPr marL="342900" indent="-342900">
              <a:buFont typeface="Wingdings" pitchFamily="2" charset="2"/>
              <a:buChar char="Ø"/>
            </a:pPr>
            <a:r>
              <a:rPr lang="en-US" b="1" dirty="0" smtClean="0"/>
              <a:t>STEP-7</a:t>
            </a:r>
            <a:r>
              <a:rPr lang="en-US" b="1" dirty="0"/>
              <a:t>: </a:t>
            </a:r>
            <a:r>
              <a:rPr lang="en-US" dirty="0"/>
              <a:t>Create the system for using the trained DCNN model to identify lung cancer in new images.</a:t>
            </a:r>
            <a:endParaRPr lang="en-IN" dirty="0"/>
          </a:p>
          <a:p>
            <a:pPr algn="just"/>
            <a:endParaRPr lang="en-IN" sz="1600" dirty="0"/>
          </a:p>
        </p:txBody>
      </p:sp>
    </p:spTree>
    <p:extLst>
      <p:ext uri="{BB962C8B-B14F-4D97-AF65-F5344CB8AC3E}">
        <p14:creationId xmlns:p14="http://schemas.microsoft.com/office/powerpoint/2010/main" val="366507214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73693" y="186431"/>
            <a:ext cx="5841507" cy="562869"/>
          </a:xfrm>
        </p:spPr>
        <p:txBody>
          <a:bodyPr>
            <a:normAutofit fontScale="90000"/>
          </a:bodyPr>
          <a:lstStyle/>
          <a:p>
            <a:r>
              <a:rPr lang="en-US" sz="3200" dirty="0" smtClean="0"/>
              <a:t>BLOCK DIAGRAM</a:t>
            </a:r>
            <a:endParaRPr sz="3200" dirty="0"/>
          </a:p>
        </p:txBody>
      </p:sp>
      <p:pic>
        <p:nvPicPr>
          <p:cNvPr id="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5500" y="871978"/>
            <a:ext cx="7048500" cy="5427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73693" y="186431"/>
            <a:ext cx="5841507" cy="846338"/>
          </a:xfrm>
        </p:spPr>
        <p:txBody>
          <a:bodyPr>
            <a:normAutofit/>
          </a:bodyPr>
          <a:lstStyle/>
          <a:p>
            <a:r>
              <a:rPr lang="en-US" sz="3200" dirty="0" smtClean="0"/>
              <a:t>DFD 0</a:t>
            </a:r>
            <a:endParaRPr sz="3200"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2450" y="2224088"/>
            <a:ext cx="8039100" cy="240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73693" y="186431"/>
            <a:ext cx="5841507" cy="846338"/>
          </a:xfrm>
        </p:spPr>
        <p:txBody>
          <a:bodyPr>
            <a:normAutofit/>
          </a:bodyPr>
          <a:lstStyle/>
          <a:p>
            <a:r>
              <a:rPr lang="en-US" sz="3200" dirty="0" smtClean="0"/>
              <a:t>DFD 1</a:t>
            </a:r>
            <a:endParaRPr sz="3200" dirty="0"/>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1988" y="1604963"/>
            <a:ext cx="7820025" cy="3648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73693" y="186431"/>
            <a:ext cx="5841507" cy="846338"/>
          </a:xfrm>
        </p:spPr>
        <p:txBody>
          <a:bodyPr>
            <a:normAutofit/>
          </a:bodyPr>
          <a:lstStyle/>
          <a:p>
            <a:r>
              <a:rPr lang="en-US" sz="3200" dirty="0" smtClean="0"/>
              <a:t>DFD 2</a:t>
            </a:r>
            <a:endParaRPr sz="3200" dirty="0"/>
          </a:p>
        </p:txBody>
      </p:sp>
      <p:sp>
        <p:nvSpPr>
          <p:cNvPr id="3" name="AutoShape 2" descr="Image result for lung cancer detection &amp; Classification data flow Diagr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512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20800" y="1181100"/>
            <a:ext cx="6946900" cy="43433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73693" y="310844"/>
            <a:ext cx="5841507" cy="499369"/>
          </a:xfrm>
        </p:spPr>
        <p:txBody>
          <a:bodyPr>
            <a:normAutofit fontScale="90000"/>
          </a:bodyPr>
          <a:lstStyle/>
          <a:p>
            <a:r>
              <a:rPr lang="en-US" sz="3200" dirty="0" smtClean="0"/>
              <a:t>WORK FLOW</a:t>
            </a:r>
            <a:endParaRPr sz="3200" dirty="0"/>
          </a:p>
        </p:txBody>
      </p:sp>
      <p:sp>
        <p:nvSpPr>
          <p:cNvPr id="4" name="AutoShape 2" descr="Visually Interpretable Representation Learning for Depression Recognition  from Facial Image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AutoShape 4" descr="Visually Interpretable Representation Learning for Depression Recognition  from Facial Images"/>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96514" y="1010674"/>
            <a:ext cx="5386388" cy="557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73693" y="186431"/>
            <a:ext cx="5841507" cy="846338"/>
          </a:xfrm>
        </p:spPr>
        <p:txBody>
          <a:bodyPr>
            <a:normAutofit/>
          </a:bodyPr>
          <a:lstStyle/>
          <a:p>
            <a:r>
              <a:rPr lang="en-US" sz="3200" dirty="0" smtClean="0"/>
              <a:t>ACTIVITY</a:t>
            </a:r>
            <a:endParaRPr sz="3200" dirty="0"/>
          </a:p>
        </p:txBody>
      </p:sp>
      <p:sp>
        <p:nvSpPr>
          <p:cNvPr id="4" name="AutoShape 2" descr="Visually Interpretable Representation Learning for Depression Recognition  from Facial Image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AutoShape 4" descr="Visually Interpretable Representation Learning for Depression Recognition  from Facial Images"/>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409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5700" y="1266333"/>
            <a:ext cx="6692899" cy="45502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7945631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0316" y="156962"/>
            <a:ext cx="5841507" cy="503438"/>
          </a:xfrm>
        </p:spPr>
        <p:txBody>
          <a:bodyPr>
            <a:normAutofit fontScale="90000"/>
          </a:bodyPr>
          <a:lstStyle/>
          <a:p>
            <a:r>
              <a:rPr lang="en-US" sz="3200" dirty="0" smtClean="0"/>
              <a:t>CLASS DIAGRAM</a:t>
            </a:r>
            <a:endParaRPr sz="3200" dirty="0"/>
          </a:p>
        </p:txBody>
      </p:sp>
      <p:cxnSp>
        <p:nvCxnSpPr>
          <p:cNvPr id="21" name="Straight Arrow Connector 20"/>
          <p:cNvCxnSpPr/>
          <p:nvPr/>
        </p:nvCxnSpPr>
        <p:spPr>
          <a:xfrm flipV="1">
            <a:off x="4359348" y="2371061"/>
            <a:ext cx="1" cy="303027"/>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a:off x="4359349" y="4411448"/>
            <a:ext cx="0" cy="838438"/>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flipH="1">
            <a:off x="2751767" y="4093535"/>
            <a:ext cx="253703" cy="0"/>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p:nvPr/>
        </p:nvCxnSpPr>
        <p:spPr>
          <a:xfrm flipV="1">
            <a:off x="5968410" y="2785730"/>
            <a:ext cx="283534" cy="10633"/>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p:nvPr/>
        </p:nvCxnSpPr>
        <p:spPr>
          <a:xfrm>
            <a:off x="5968410" y="3996483"/>
            <a:ext cx="226827" cy="0"/>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33911" y="660400"/>
            <a:ext cx="6152532" cy="287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1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5588" y="2917825"/>
            <a:ext cx="6600825" cy="3543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73693" y="186431"/>
            <a:ext cx="6511358" cy="302667"/>
          </a:xfrm>
        </p:spPr>
        <p:txBody>
          <a:bodyPr>
            <a:normAutofit fontScale="90000"/>
          </a:bodyPr>
          <a:lstStyle/>
          <a:p>
            <a:r>
              <a:rPr lang="en-US" sz="3200" dirty="0" smtClean="0"/>
              <a:t>SEQUENCE</a:t>
            </a:r>
            <a:endParaRPr sz="3200" dirty="0"/>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7814" y="1435100"/>
            <a:ext cx="6817599" cy="4254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6388100" y="1435100"/>
            <a:ext cx="1357313" cy="5207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Cancer</a:t>
            </a:r>
            <a:endParaRPr lang="en-IN" dirty="0"/>
          </a:p>
        </p:txBody>
      </p:sp>
      <p:sp>
        <p:nvSpPr>
          <p:cNvPr id="5" name="Rectangle 4"/>
          <p:cNvSpPr/>
          <p:nvPr/>
        </p:nvSpPr>
        <p:spPr>
          <a:xfrm>
            <a:off x="5851922" y="3962400"/>
            <a:ext cx="1072356" cy="2286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smtClean="0"/>
              <a:t>If Cancer</a:t>
            </a:r>
            <a:endParaRPr lang="en-IN" sz="1400"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73693" y="186431"/>
            <a:ext cx="5841507" cy="846338"/>
          </a:xfrm>
        </p:spPr>
        <p:txBody>
          <a:bodyPr>
            <a:normAutofit/>
          </a:bodyPr>
          <a:lstStyle/>
          <a:p>
            <a:r>
              <a:rPr lang="en-US" sz="3200" dirty="0" smtClean="0"/>
              <a:t>USECASE</a:t>
            </a:r>
            <a:endParaRPr sz="3200" dirty="0"/>
          </a:p>
        </p:txBody>
      </p:sp>
      <p:cxnSp>
        <p:nvCxnSpPr>
          <p:cNvPr id="43" name="Straight Connector 42"/>
          <p:cNvCxnSpPr/>
          <p:nvPr/>
        </p:nvCxnSpPr>
        <p:spPr>
          <a:xfrm>
            <a:off x="2708644" y="1765003"/>
            <a:ext cx="0" cy="31878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flipH="1">
            <a:off x="2554472" y="2062716"/>
            <a:ext cx="154173" cy="25111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a:off x="2708644" y="2083979"/>
            <a:ext cx="154172" cy="22985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p:nvPr/>
        </p:nvCxnSpPr>
        <p:spPr>
          <a:xfrm>
            <a:off x="2450804" y="1759688"/>
            <a:ext cx="824024" cy="0"/>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p:nvPr/>
        </p:nvCxnSpPr>
        <p:spPr>
          <a:xfrm>
            <a:off x="7975305" y="4364665"/>
            <a:ext cx="0" cy="31878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1" name="Straight Connector 60"/>
          <p:cNvCxnSpPr/>
          <p:nvPr/>
        </p:nvCxnSpPr>
        <p:spPr>
          <a:xfrm flipH="1">
            <a:off x="7821133" y="4662378"/>
            <a:ext cx="154173" cy="25111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a:xfrm>
            <a:off x="7975305" y="4683641"/>
            <a:ext cx="154172" cy="22985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76" name="TextBox 75"/>
          <p:cNvSpPr txBox="1"/>
          <p:nvPr/>
        </p:nvSpPr>
        <p:spPr>
          <a:xfrm>
            <a:off x="2318153" y="2287399"/>
            <a:ext cx="780983" cy="369332"/>
          </a:xfrm>
          <a:prstGeom prst="rect">
            <a:avLst/>
          </a:prstGeom>
          <a:noFill/>
        </p:spPr>
        <p:txBody>
          <a:bodyPr wrap="none" rtlCol="0">
            <a:spAutoFit/>
          </a:bodyPr>
          <a:lstStyle/>
          <a:p>
            <a:r>
              <a:rPr lang="en-US" dirty="0" smtClean="0">
                <a:solidFill>
                  <a:schemeClr val="bg1"/>
                </a:solidFill>
              </a:rPr>
              <a:t>USER</a:t>
            </a:r>
            <a:endParaRPr lang="en-IN" dirty="0">
              <a:solidFill>
                <a:schemeClr val="bg1"/>
              </a:solidFill>
            </a:endParaRPr>
          </a:p>
        </p:txBody>
      </p:sp>
      <p:sp>
        <p:nvSpPr>
          <p:cNvPr id="77" name="TextBox 76"/>
          <p:cNvSpPr txBox="1"/>
          <p:nvPr/>
        </p:nvSpPr>
        <p:spPr>
          <a:xfrm>
            <a:off x="7661899" y="4935016"/>
            <a:ext cx="1082348" cy="369332"/>
          </a:xfrm>
          <a:prstGeom prst="rect">
            <a:avLst/>
          </a:prstGeom>
          <a:noFill/>
        </p:spPr>
        <p:txBody>
          <a:bodyPr wrap="none" rtlCol="0">
            <a:spAutoFit/>
          </a:bodyPr>
          <a:lstStyle/>
          <a:p>
            <a:r>
              <a:rPr lang="en-US" dirty="0" smtClean="0">
                <a:solidFill>
                  <a:schemeClr val="bg1"/>
                </a:solidFill>
              </a:rPr>
              <a:t>SYSTEM</a:t>
            </a:r>
            <a:endParaRPr lang="en-IN" dirty="0">
              <a:solidFill>
                <a:schemeClr val="bg1"/>
              </a:solidFill>
            </a:endParaRPr>
          </a:p>
        </p:txBody>
      </p:sp>
      <p:pic>
        <p:nvPicPr>
          <p:cNvPr id="819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7100" y="1402662"/>
            <a:ext cx="7378700" cy="4515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1161" y="-350667"/>
            <a:ext cx="7315200" cy="1154097"/>
          </a:xfrm>
        </p:spPr>
        <p:txBody>
          <a:bodyPr/>
          <a:lstStyle/>
          <a:p>
            <a:pPr algn="ctr"/>
            <a:r>
              <a:rPr lang="en-US" dirty="0"/>
              <a:t>Implementation </a:t>
            </a:r>
            <a:r>
              <a:rPr lang="en-US" dirty="0" smtClean="0"/>
              <a:t>(I/P </a:t>
            </a:r>
            <a:r>
              <a:rPr lang="en-US" dirty="0"/>
              <a:t>Image)</a:t>
            </a:r>
            <a:endParaRPr lang="en-GB"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33832" y="1363869"/>
            <a:ext cx="6244973" cy="4908191"/>
          </a:xfrm>
        </p:spPr>
      </p:pic>
    </p:spTree>
    <p:extLst>
      <p:ext uri="{BB962C8B-B14F-4D97-AF65-F5344CB8AC3E}">
        <p14:creationId xmlns:p14="http://schemas.microsoft.com/office/powerpoint/2010/main" val="31385050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6414" y="-280219"/>
            <a:ext cx="7315200" cy="1154097"/>
          </a:xfrm>
        </p:spPr>
        <p:txBody>
          <a:bodyPr/>
          <a:lstStyle/>
          <a:p>
            <a:pPr algn="ctr"/>
            <a:r>
              <a:rPr lang="en-US" dirty="0"/>
              <a:t>Implementation (O/P Image)</a:t>
            </a:r>
            <a:endParaRPr lang="en-GB"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96414" y="1154097"/>
            <a:ext cx="7728154" cy="5349891"/>
          </a:xfrm>
        </p:spPr>
      </p:pic>
    </p:spTree>
    <p:extLst>
      <p:ext uri="{BB962C8B-B14F-4D97-AF65-F5344CB8AC3E}">
        <p14:creationId xmlns:p14="http://schemas.microsoft.com/office/powerpoint/2010/main" val="15757657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5690" y="-357827"/>
            <a:ext cx="7315200" cy="1154097"/>
          </a:xfrm>
        </p:spPr>
        <p:txBody>
          <a:bodyPr/>
          <a:lstStyle/>
          <a:p>
            <a:pPr algn="ctr"/>
            <a:r>
              <a:rPr lang="en-US" dirty="0" smtClean="0"/>
              <a:t>Implementation (O/P Image)</a:t>
            </a:r>
            <a:endParaRPr lang="en-GB"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45690" y="1002890"/>
            <a:ext cx="8185355" cy="5722375"/>
          </a:xfrm>
        </p:spPr>
      </p:pic>
    </p:spTree>
    <p:extLst>
      <p:ext uri="{BB962C8B-B14F-4D97-AF65-F5344CB8AC3E}">
        <p14:creationId xmlns:p14="http://schemas.microsoft.com/office/powerpoint/2010/main" val="10712722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39840"/>
            <a:ext cx="7315200" cy="1154097"/>
          </a:xfrm>
        </p:spPr>
        <p:txBody>
          <a:bodyPr/>
          <a:lstStyle/>
          <a:p>
            <a:pPr algn="ctr"/>
            <a:r>
              <a:rPr lang="en-US" dirty="0"/>
              <a:t>Implementation (O/P Image)</a:t>
            </a:r>
            <a:endParaRPr lang="en-GB"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63677" y="1135062"/>
            <a:ext cx="7860891" cy="5575453"/>
          </a:xfrm>
        </p:spPr>
      </p:pic>
    </p:spTree>
    <p:extLst>
      <p:ext uri="{BB962C8B-B14F-4D97-AF65-F5344CB8AC3E}">
        <p14:creationId xmlns:p14="http://schemas.microsoft.com/office/powerpoint/2010/main" val="32618005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6916" y="10883"/>
            <a:ext cx="7315200" cy="1154097"/>
          </a:xfrm>
        </p:spPr>
        <p:txBody>
          <a:bodyPr/>
          <a:lstStyle/>
          <a:p>
            <a:r>
              <a:rPr dirty="0"/>
              <a:t>Advantages</a:t>
            </a:r>
          </a:p>
        </p:txBody>
      </p:sp>
      <p:sp>
        <p:nvSpPr>
          <p:cNvPr id="3" name="Content Placeholder 2"/>
          <p:cNvSpPr>
            <a:spLocks noGrp="1"/>
          </p:cNvSpPr>
          <p:nvPr>
            <p:ph idx="1"/>
          </p:nvPr>
        </p:nvSpPr>
        <p:spPr>
          <a:xfrm>
            <a:off x="766916" y="1752194"/>
            <a:ext cx="7315200" cy="3539527"/>
          </a:xfrm>
        </p:spPr>
        <p:txBody>
          <a:bodyPr>
            <a:normAutofit/>
          </a:bodyPr>
          <a:lstStyle/>
          <a:p>
            <a:pPr marL="457200" indent="-457200">
              <a:buAutoNum type="alphaLcParenBoth"/>
            </a:pPr>
            <a:r>
              <a:rPr lang="en-US" dirty="0" smtClean="0"/>
              <a:t>Early </a:t>
            </a:r>
            <a:r>
              <a:rPr lang="en-US" dirty="0"/>
              <a:t>detection of cancer greatly increases the chances for successful treatment. </a:t>
            </a:r>
            <a:endParaRPr lang="en-US" dirty="0" smtClean="0"/>
          </a:p>
          <a:p>
            <a:pPr marL="457200" indent="-457200">
              <a:buAutoNum type="alphaLcParenBoth"/>
            </a:pPr>
            <a:endParaRPr lang="en-US" dirty="0"/>
          </a:p>
          <a:p>
            <a:pPr marL="457200" indent="-457200">
              <a:buAutoNum type="alphaLcParenBoth"/>
            </a:pPr>
            <a:r>
              <a:rPr lang="en-US" dirty="0" smtClean="0"/>
              <a:t>With </a:t>
            </a:r>
            <a:r>
              <a:rPr lang="en-US" dirty="0"/>
              <a:t>the use of this treatment is often simpler and more likely to be effective. </a:t>
            </a:r>
          </a:p>
          <a:p>
            <a:pPr marL="457200" indent="-457200">
              <a:buAutoNum type="alphaLcParenBoth"/>
            </a:pPr>
            <a:endParaRPr lang="en-US" dirty="0" smtClean="0"/>
          </a:p>
          <a:p>
            <a:pPr marL="457200" indent="-457200">
              <a:buAutoNum type="alphaLcParenBoth"/>
            </a:pPr>
            <a:r>
              <a:rPr lang="en-US" dirty="0" smtClean="0"/>
              <a:t>The </a:t>
            </a:r>
            <a:r>
              <a:rPr lang="en-US" dirty="0"/>
              <a:t>proposed systems are more efficient and give the better result. (d)Provides better image quality and accuracy</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6100" y="490020"/>
            <a:ext cx="8229600" cy="698500"/>
          </a:xfrm>
        </p:spPr>
        <p:txBody>
          <a:bodyPr>
            <a:normAutofit fontScale="90000"/>
          </a:bodyPr>
          <a:lstStyle/>
          <a:p>
            <a:r>
              <a:rPr lang="en-US" dirty="0" smtClean="0"/>
              <a:t>FUTURE SCOPE</a:t>
            </a:r>
            <a:endParaRPr dirty="0"/>
          </a:p>
        </p:txBody>
      </p:sp>
      <p:cxnSp>
        <p:nvCxnSpPr>
          <p:cNvPr id="7171" name="Straight Arrow Connector 7170"/>
          <p:cNvCxnSpPr/>
          <p:nvPr/>
        </p:nvCxnSpPr>
        <p:spPr>
          <a:xfrm flipH="1">
            <a:off x="5289698" y="3721395"/>
            <a:ext cx="473139" cy="0"/>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3" name="Rectangle 2"/>
          <p:cNvSpPr/>
          <p:nvPr/>
        </p:nvSpPr>
        <p:spPr>
          <a:xfrm>
            <a:off x="635000" y="1188520"/>
            <a:ext cx="8051800" cy="3643562"/>
          </a:xfrm>
          <a:prstGeom prst="rect">
            <a:avLst/>
          </a:prstGeom>
        </p:spPr>
        <p:txBody>
          <a:bodyPr wrap="square">
            <a:spAutoFit/>
          </a:bodyPr>
          <a:lstStyle/>
          <a:p>
            <a:endParaRPr lang="en-US" dirty="0" smtClean="0">
              <a:latin typeface="Times New Roman" panose="02020603050405020304" pitchFamily="18" charset="0"/>
              <a:cs typeface="Times New Roman" panose="02020603050405020304" pitchFamily="18" charset="0"/>
            </a:endParaRPr>
          </a:p>
          <a:p>
            <a:pPr algn="just">
              <a:lnSpc>
                <a:spcPct val="150000"/>
              </a:lnSpc>
            </a:pPr>
            <a:endParaRPr lang="en-US" dirty="0">
              <a:latin typeface="Times New Roman" panose="02020603050405020304" pitchFamily="18" charset="0"/>
              <a:cs typeface="Times New Roman" panose="02020603050405020304" pitchFamily="18" charset="0"/>
            </a:endParaRPr>
          </a:p>
          <a:p>
            <a:pPr algn="just">
              <a:lnSpc>
                <a:spcPct val="150000"/>
              </a:lnSpc>
            </a:pPr>
            <a:r>
              <a:rPr lang="en-US" dirty="0" smtClean="0">
                <a:latin typeface="Times New Roman" panose="02020603050405020304" pitchFamily="18" charset="0"/>
                <a:cs typeface="Times New Roman" panose="02020603050405020304" pitchFamily="18" charset="0"/>
              </a:rPr>
              <a:t>Doctor’s </a:t>
            </a:r>
            <a:r>
              <a:rPr lang="en-US" dirty="0">
                <a:latin typeface="Times New Roman" panose="02020603050405020304" pitchFamily="18" charset="0"/>
                <a:cs typeface="Times New Roman" panose="02020603050405020304" pitchFamily="18" charset="0"/>
              </a:rPr>
              <a:t>who work in this field are prone to observer fatigue from viewing so many CT scan images. The research on that suggests that observer fatigue increases the risk of errors that can be made by doctors while </a:t>
            </a:r>
            <a:r>
              <a:rPr lang="en-US" dirty="0" smtClean="0">
                <a:latin typeface="Times New Roman" panose="02020603050405020304" pitchFamily="18" charset="0"/>
                <a:cs typeface="Times New Roman" panose="02020603050405020304" pitchFamily="18" charset="0"/>
              </a:rPr>
              <a:t>analyzing </a:t>
            </a:r>
            <a:r>
              <a:rPr lang="en-US" dirty="0">
                <a:latin typeface="Times New Roman" panose="02020603050405020304" pitchFamily="18" charset="0"/>
                <a:cs typeface="Times New Roman" panose="02020603050405020304" pitchFamily="18" charset="0"/>
              </a:rPr>
              <a:t>these scans. Many images in a CT scan also are irrelevant to Doctors e.g. for 200-300 images only 3 scans would show cancer depending on the stage of the patient. Although this feature was not implemented on the website, a more efficient deep learning model would be capable of alleviating these additional challenges.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1076581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0941"/>
            <a:ext cx="8229600" cy="698500"/>
          </a:xfrm>
        </p:spPr>
        <p:txBody>
          <a:bodyPr>
            <a:normAutofit fontScale="90000"/>
          </a:bodyPr>
          <a:lstStyle/>
          <a:p>
            <a:r>
              <a:rPr lang="en-US" dirty="0" smtClean="0"/>
              <a:t>EXPECTED OUTCOMES</a:t>
            </a:r>
            <a:endParaRPr dirty="0"/>
          </a:p>
        </p:txBody>
      </p:sp>
      <p:sp>
        <p:nvSpPr>
          <p:cNvPr id="4" name="Rectangle 3"/>
          <p:cNvSpPr/>
          <p:nvPr/>
        </p:nvSpPr>
        <p:spPr>
          <a:xfrm>
            <a:off x="684908" y="1595647"/>
            <a:ext cx="7846828" cy="3416320"/>
          </a:xfrm>
          <a:prstGeom prst="rect">
            <a:avLst/>
          </a:prstGeom>
        </p:spPr>
        <p:txBody>
          <a:bodyPr wrap="square">
            <a:spAutoFit/>
          </a:bodyPr>
          <a:lstStyle/>
          <a:p>
            <a:pPr algn="just"/>
            <a:r>
              <a:rPr lang="en-US" sz="2400" dirty="0">
                <a:latin typeface="Times New Roman" panose="02020603050405020304" pitchFamily="18" charset="0"/>
                <a:cs typeface="Times New Roman" panose="02020603050405020304" pitchFamily="18" charset="0"/>
              </a:rPr>
              <a:t>The model </a:t>
            </a:r>
            <a:r>
              <a:rPr lang="en-US" sz="2400" dirty="0" smtClean="0">
                <a:latin typeface="Times New Roman" panose="02020603050405020304" pitchFamily="18" charset="0"/>
                <a:cs typeface="Times New Roman" panose="02020603050405020304" pitchFamily="18" charset="0"/>
              </a:rPr>
              <a:t>Higher </a:t>
            </a:r>
            <a:r>
              <a:rPr lang="en-US" sz="2400" dirty="0">
                <a:latin typeface="Times New Roman" panose="02020603050405020304" pitchFamily="18" charset="0"/>
                <a:cs typeface="Times New Roman" panose="02020603050405020304" pitchFamily="18" charset="0"/>
              </a:rPr>
              <a:t>accuracy using the dice coefficient on the training set. The dice coefficient is much lower on the training set however the confusion matrix outputs a high true and false positive rate on a set that contains positive and negative samples. This indicates that the model is great at distinguishing between CT scan slices with no cancer nodules compared to the ones with cancer. I believe with more </a:t>
            </a:r>
            <a:r>
              <a:rPr lang="en-US" sz="2400" dirty="0" smtClean="0">
                <a:latin typeface="Times New Roman" panose="02020603050405020304" pitchFamily="18" charset="0"/>
                <a:cs typeface="Times New Roman" panose="02020603050405020304" pitchFamily="18" charset="0"/>
              </a:rPr>
              <a:t>hyper-parameter </a:t>
            </a:r>
            <a:r>
              <a:rPr lang="en-US" sz="2400" dirty="0">
                <a:latin typeface="Times New Roman" panose="02020603050405020304" pitchFamily="18" charset="0"/>
                <a:cs typeface="Times New Roman" panose="02020603050405020304" pitchFamily="18" charset="0"/>
              </a:rPr>
              <a:t>tuning and model training the accuracy could be increased.</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1614666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0681"/>
          </a:xfrm>
        </p:spPr>
        <p:txBody>
          <a:bodyPr>
            <a:normAutofit/>
          </a:bodyPr>
          <a:lstStyle/>
          <a:p>
            <a:r>
              <a:rPr dirty="0"/>
              <a:t>References</a:t>
            </a:r>
          </a:p>
        </p:txBody>
      </p:sp>
      <p:sp>
        <p:nvSpPr>
          <p:cNvPr id="3" name="Content Placeholder 2"/>
          <p:cNvSpPr>
            <a:spLocks noGrp="1"/>
          </p:cNvSpPr>
          <p:nvPr>
            <p:ph idx="1"/>
          </p:nvPr>
        </p:nvSpPr>
        <p:spPr>
          <a:xfrm>
            <a:off x="457200" y="1065319"/>
            <a:ext cx="8229600" cy="5477523"/>
          </a:xfrm>
        </p:spPr>
        <p:txBody>
          <a:bodyPr>
            <a:normAutofit lnSpcReduction="10000"/>
          </a:bodyPr>
          <a:lstStyle/>
          <a:p>
            <a:pPr marL="480060" lvl="0" indent="-342900" algn="just">
              <a:lnSpc>
                <a:spcPct val="120000"/>
              </a:lnSpc>
              <a:buFont typeface="+mj-lt"/>
              <a:buAutoNum type="arabicPeriod"/>
            </a:pPr>
            <a:r>
              <a:rPr lang="en-US" sz="1400" dirty="0"/>
              <a:t>World Health Organization. (2020). WHO report on cancer: setting priorities, investing wisely and providing care for all.</a:t>
            </a:r>
            <a:endParaRPr lang="en-IN" sz="1400" dirty="0" smtClean="0"/>
          </a:p>
          <a:p>
            <a:pPr marL="480060" lvl="0" indent="-342900" algn="just">
              <a:lnSpc>
                <a:spcPct val="120000"/>
              </a:lnSpc>
              <a:buFont typeface="+mj-lt"/>
              <a:buAutoNum type="arabicPeriod"/>
            </a:pPr>
            <a:r>
              <a:rPr lang="en-IN" sz="1400" dirty="0" smtClean="0"/>
              <a:t>Arnaud </a:t>
            </a:r>
            <a:r>
              <a:rPr lang="en-IN" sz="1400" dirty="0"/>
              <a:t>A. A. </a:t>
            </a:r>
            <a:r>
              <a:rPr lang="en-IN" sz="1400" dirty="0" err="1"/>
              <a:t>Setio</a:t>
            </a:r>
            <a:r>
              <a:rPr lang="en-IN" sz="1400" dirty="0"/>
              <a:t>, Francesco </a:t>
            </a:r>
            <a:r>
              <a:rPr lang="en-IN" sz="1400" dirty="0" err="1"/>
              <a:t>Ciompi</a:t>
            </a:r>
            <a:r>
              <a:rPr lang="en-IN" sz="1400" dirty="0"/>
              <a:t>, Geert </a:t>
            </a:r>
            <a:r>
              <a:rPr lang="en-IN" sz="1400" dirty="0" err="1"/>
              <a:t>Litjens</a:t>
            </a:r>
            <a:r>
              <a:rPr lang="en-IN" sz="1400" dirty="0"/>
              <a:t>, Paul </a:t>
            </a:r>
            <a:r>
              <a:rPr lang="en-IN" sz="1400" dirty="0" err="1"/>
              <a:t>Gerke</a:t>
            </a:r>
            <a:r>
              <a:rPr lang="en-IN" sz="1400" dirty="0"/>
              <a:t>, Colin Jacobs, Sarah J. van Riel, </a:t>
            </a:r>
            <a:r>
              <a:rPr lang="en-IN" sz="1400" dirty="0" err="1"/>
              <a:t>Mathi”Pulmonary</a:t>
            </a:r>
            <a:r>
              <a:rPr lang="en-IN" sz="1400" dirty="0"/>
              <a:t> nodule detection in CT images: false positive reduction using multi-view convolutional networks”(2016</a:t>
            </a:r>
            <a:r>
              <a:rPr lang="en-IN" sz="1400" dirty="0" smtClean="0"/>
              <a:t>).</a:t>
            </a:r>
          </a:p>
          <a:p>
            <a:pPr marL="480060" lvl="0" indent="-342900" algn="just">
              <a:lnSpc>
                <a:spcPct val="120000"/>
              </a:lnSpc>
              <a:buFont typeface="+mj-lt"/>
              <a:buAutoNum type="arabicPeriod"/>
            </a:pPr>
            <a:r>
              <a:rPr lang="en-IN" sz="1400" dirty="0" smtClean="0"/>
              <a:t>Mario </a:t>
            </a:r>
            <a:r>
              <a:rPr lang="en-IN" sz="1400" dirty="0"/>
              <a:t>Buty1, </a:t>
            </a:r>
            <a:r>
              <a:rPr lang="en-IN" sz="1400" dirty="0" err="1"/>
              <a:t>Ziyue</a:t>
            </a:r>
            <a:r>
              <a:rPr lang="en-IN" sz="1400" dirty="0"/>
              <a:t> Xu1 , </a:t>
            </a:r>
            <a:r>
              <a:rPr lang="en-IN" sz="1400" dirty="0" err="1"/>
              <a:t>Mingchen</a:t>
            </a:r>
            <a:r>
              <a:rPr lang="en-IN" sz="1400" dirty="0"/>
              <a:t> </a:t>
            </a:r>
            <a:r>
              <a:rPr lang="en-IN" sz="1400" dirty="0" err="1"/>
              <a:t>Gao</a:t>
            </a:r>
            <a:r>
              <a:rPr lang="en-IN" sz="1400" dirty="0"/>
              <a:t>” Characterization of Lung Nodule Malignancy using Hybrid Shape and Appearance Features”(2017) </a:t>
            </a:r>
            <a:endParaRPr lang="en-US" sz="1400" dirty="0" smtClean="0"/>
          </a:p>
          <a:p>
            <a:pPr marL="480060" lvl="0" indent="-342900" algn="just">
              <a:lnSpc>
                <a:spcPct val="120000"/>
              </a:lnSpc>
              <a:buFont typeface="+mj-lt"/>
              <a:buAutoNum type="arabicPeriod"/>
            </a:pPr>
            <a:r>
              <a:rPr lang="en-IN" sz="1400" dirty="0" err="1"/>
              <a:t>Teramoto</a:t>
            </a:r>
            <a:r>
              <a:rPr lang="en-IN" sz="1400" dirty="0"/>
              <a:t>, A., Tsukamoto, T., </a:t>
            </a:r>
            <a:r>
              <a:rPr lang="en-IN" sz="1400" dirty="0" err="1"/>
              <a:t>Kiriyama</a:t>
            </a:r>
            <a:r>
              <a:rPr lang="en-IN" sz="1400" dirty="0"/>
              <a:t>, Y., &amp; Fujita, H. (2017). Automated classification of lung cancer types from cytological images using deep convolutional neural networks. </a:t>
            </a:r>
            <a:r>
              <a:rPr lang="en-IN" sz="1400" dirty="0" err="1"/>
              <a:t>BioMed</a:t>
            </a:r>
            <a:r>
              <a:rPr lang="en-IN" sz="1400" dirty="0"/>
              <a:t> research international, 2017</a:t>
            </a:r>
            <a:r>
              <a:rPr lang="en-IN" sz="1400" dirty="0" smtClean="0"/>
              <a:t>.</a:t>
            </a:r>
          </a:p>
          <a:p>
            <a:pPr marL="480060" lvl="0" indent="-342900" algn="just">
              <a:lnSpc>
                <a:spcPct val="120000"/>
              </a:lnSpc>
              <a:buFont typeface="+mj-lt"/>
              <a:buAutoNum type="arabicPeriod"/>
            </a:pPr>
            <a:r>
              <a:rPr lang="en-US" sz="1400" dirty="0"/>
              <a:t>Song, Q., Zhao, L., </a:t>
            </a:r>
            <a:r>
              <a:rPr lang="en-US" sz="1400" dirty="0" err="1"/>
              <a:t>Luo</a:t>
            </a:r>
            <a:r>
              <a:rPr lang="en-US" sz="1400" dirty="0"/>
              <a:t>, X., &amp; Dou, X. (2017). Using deep learning for classification of lung nodules on computed tomography images. Journal of healthcare engineering, 2017</a:t>
            </a:r>
            <a:r>
              <a:rPr lang="en-US" sz="1600" dirty="0" smtClean="0"/>
              <a:t>.</a:t>
            </a:r>
          </a:p>
          <a:p>
            <a:pPr marL="480060" lvl="0" indent="-342900" algn="just">
              <a:lnSpc>
                <a:spcPct val="120000"/>
              </a:lnSpc>
              <a:buFont typeface="+mj-lt"/>
              <a:buAutoNum type="arabicPeriod"/>
            </a:pPr>
            <a:r>
              <a:rPr lang="en-US" sz="1600" dirty="0"/>
              <a:t>Wang, S., Dong, L., Wang, X., &amp; Wang, X. (2020). Classification of pathological types of lung cancer from CT images by deep residual neural networks with transfer learning strategy. Open Medicine, 15(1), 190-197</a:t>
            </a:r>
            <a:r>
              <a:rPr lang="en-US" sz="1600" dirty="0" smtClean="0"/>
              <a:t>.</a:t>
            </a:r>
          </a:p>
          <a:p>
            <a:pPr marL="480060" lvl="0" indent="-342900" algn="just">
              <a:lnSpc>
                <a:spcPct val="120000"/>
              </a:lnSpc>
              <a:buFont typeface="+mj-lt"/>
              <a:buAutoNum type="arabicPeriod"/>
            </a:pPr>
            <a:r>
              <a:rPr lang="en-IN" sz="1600" dirty="0"/>
              <a:t>Tan, M., &amp; Le, Q. V. (2019). </a:t>
            </a:r>
            <a:r>
              <a:rPr lang="en-IN" sz="1600" dirty="0" err="1"/>
              <a:t>Efficientnet</a:t>
            </a:r>
            <a:r>
              <a:rPr lang="en-IN" sz="1600" dirty="0"/>
              <a:t>: Rethinking model scaling for convolutional neural networks. </a:t>
            </a:r>
            <a:r>
              <a:rPr lang="en-IN" sz="1600" dirty="0" err="1"/>
              <a:t>arXiv</a:t>
            </a:r>
            <a:r>
              <a:rPr lang="en-IN" sz="1600" dirty="0"/>
              <a:t> preprint arXiv:1905.11946</a:t>
            </a:r>
            <a:r>
              <a:rPr lang="en-IN" sz="1600" dirty="0" smtClean="0"/>
              <a:t>.</a:t>
            </a:r>
          </a:p>
          <a:p>
            <a:pPr marL="480060" lvl="0" indent="-342900" algn="just">
              <a:lnSpc>
                <a:spcPct val="120000"/>
              </a:lnSpc>
              <a:buFont typeface="+mj-lt"/>
              <a:buAutoNum type="arabicPeriod"/>
            </a:pPr>
            <a:r>
              <a:rPr lang="en-US" sz="1600" dirty="0" err="1"/>
              <a:t>Asuntha</a:t>
            </a:r>
            <a:r>
              <a:rPr lang="en-US" sz="1600" dirty="0"/>
              <a:t>, A., &amp; </a:t>
            </a:r>
            <a:r>
              <a:rPr lang="en-US" sz="1600" dirty="0" err="1"/>
              <a:t>Srinivasan</a:t>
            </a:r>
            <a:r>
              <a:rPr lang="en-US" sz="1600" dirty="0"/>
              <a:t>, A. (2020). Deep learning for lung Cancer detection and classification. Multimedia Tools and Applications, 1- 32.</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2484438"/>
            <a:ext cx="6667500" cy="790681"/>
          </a:xfrm>
        </p:spPr>
        <p:txBody>
          <a:bodyPr>
            <a:normAutofit/>
          </a:bodyPr>
          <a:lstStyle/>
          <a:p>
            <a:pPr algn="ctr"/>
            <a:r>
              <a:rPr lang="en-US" dirty="0" smtClean="0"/>
              <a:t>THANK YOU</a:t>
            </a:r>
            <a:endParaRPr dirty="0"/>
          </a:p>
        </p:txBody>
      </p:sp>
    </p:spTree>
    <p:extLst>
      <p:ext uri="{BB962C8B-B14F-4D97-AF65-F5344CB8AC3E}">
        <p14:creationId xmlns:p14="http://schemas.microsoft.com/office/powerpoint/2010/main" val="4277124185"/>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erspective">
  <a:themeElements>
    <a:clrScheme name="Perspective">
      <a:dk1>
        <a:sysClr val="windowText" lastClr="000000"/>
      </a:dk1>
      <a:lt1>
        <a:sysClr val="window" lastClr="FFFFFF"/>
      </a:lt1>
      <a:dk2>
        <a:srgbClr val="283138"/>
      </a:dk2>
      <a:lt2>
        <a:srgbClr val="FF8600"/>
      </a:lt2>
      <a:accent1>
        <a:srgbClr val="838D9B"/>
      </a:accent1>
      <a:accent2>
        <a:srgbClr val="D2610C"/>
      </a:accent2>
      <a:accent3>
        <a:srgbClr val="80716A"/>
      </a:accent3>
      <a:accent4>
        <a:srgbClr val="94147C"/>
      </a:accent4>
      <a:accent5>
        <a:srgbClr val="5D5AD2"/>
      </a:accent5>
      <a:accent6>
        <a:srgbClr val="6F6C7D"/>
      </a:accent6>
      <a:hlink>
        <a:srgbClr val="6187E3"/>
      </a:hlink>
      <a:folHlink>
        <a:srgbClr val="7B8EB8"/>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erspective">
      <a:fillStyleLst>
        <a:solidFill>
          <a:schemeClr val="phClr"/>
        </a:solidFill>
        <a:gradFill rotWithShape="1">
          <a:gsLst>
            <a:gs pos="0">
              <a:schemeClr val="phClr">
                <a:tint val="50000"/>
                <a:alpha val="100000"/>
                <a:satMod val="160000"/>
                <a:lumMod val="105000"/>
              </a:schemeClr>
            </a:gs>
            <a:gs pos="41000">
              <a:schemeClr val="phClr">
                <a:tint val="57000"/>
                <a:satMod val="180000"/>
                <a:lumMod val="99000"/>
              </a:schemeClr>
            </a:gs>
            <a:gs pos="100000">
              <a:schemeClr val="phClr">
                <a:tint val="80000"/>
                <a:satMod val="200000"/>
                <a:lumMod val="104000"/>
              </a:schemeClr>
            </a:gs>
          </a:gsLst>
          <a:lin ang="5400000" scaled="1"/>
        </a:gradFill>
        <a:gradFill rotWithShape="1">
          <a:gsLst>
            <a:gs pos="0">
              <a:schemeClr val="phClr">
                <a:tint val="96000"/>
                <a:satMod val="130000"/>
                <a:lumMod val="114000"/>
              </a:schemeClr>
            </a:gs>
            <a:gs pos="60000">
              <a:schemeClr val="phClr">
                <a:tint val="100000"/>
                <a:satMod val="106000"/>
                <a:lumMod val="110000"/>
              </a:schemeClr>
            </a:gs>
            <a:gs pos="100000">
              <a:schemeClr val="ph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50800" dist="38100" dir="5400000" rotWithShape="0">
              <a:srgbClr val="000000">
                <a:alpha val="28000"/>
              </a:srgbClr>
            </a:outerShdw>
          </a:effectLst>
        </a:effectStyle>
        <a:effectStyle>
          <a:effectLst>
            <a:outerShdw blurRad="47625" dist="38100" dir="5400000" sy="98000" rotWithShape="0">
              <a:srgbClr val="000000">
                <a:alpha val="48000"/>
              </a:srgbClr>
            </a:outerShdw>
          </a:effectLst>
          <a:scene3d>
            <a:camera prst="orthographicFront">
              <a:rot lat="0" lon="0" rev="0"/>
            </a:camera>
            <a:lightRig rig="twoPt" dir="br">
              <a:rot lat="0" lon="0" rev="8700000"/>
            </a:lightRig>
          </a:scene3d>
          <a:sp3d prstMaterial="matte">
            <a:bevelT w="25400" h="53975"/>
          </a:sp3d>
        </a:effectStyle>
        <a:effectStyle>
          <a:effectLst>
            <a:reflection blurRad="12700" stA="24000" endPos="28000" dist="50800" dir="5400000" sy="-100000" rotWithShape="0"/>
          </a:effectLst>
          <a:scene3d>
            <a:camera prst="orthographicFront">
              <a:rot lat="0" lon="0" rev="0"/>
            </a:camera>
            <a:lightRig rig="threePt" dir="t">
              <a:rot lat="0" lon="0" rev="4800000"/>
            </a:lightRig>
          </a:scene3d>
          <a:sp3d>
            <a:bevelT w="69850" h="31750"/>
          </a:sp3d>
        </a:effectStyle>
      </a:effectStyleLst>
      <a:bgFillStyleLst>
        <a:solidFill>
          <a:schemeClr val="phClr"/>
        </a:solidFill>
        <a:gradFill rotWithShape="1">
          <a:gsLst>
            <a:gs pos="0">
              <a:schemeClr val="phClr">
                <a:tint val="100000"/>
                <a:shade val="80000"/>
                <a:satMod val="100000"/>
                <a:lumMod val="100000"/>
              </a:schemeClr>
            </a:gs>
            <a:gs pos="65000">
              <a:schemeClr val="phClr">
                <a:tint val="100000"/>
                <a:shade val="95000"/>
                <a:satMod val="100000"/>
                <a:lumMod val="100000"/>
              </a:schemeClr>
            </a:gs>
            <a:gs pos="100000">
              <a:schemeClr val="phClr">
                <a:tint val="88000"/>
                <a:shade val="100000"/>
                <a:satMod val="400000"/>
                <a:lumMod val="100000"/>
              </a:schemeClr>
            </a:gs>
          </a:gsLst>
          <a:lin ang="5400000" scaled="0"/>
        </a:gradFill>
        <a:blipFill rotWithShape="1">
          <a:blip xmlns:r="http://schemas.openxmlformats.org/officeDocument/2006/relationships" r:embed="rId1">
            <a:duotone>
              <a:schemeClr val="phClr">
                <a:tint val="95000"/>
                <a:satMod val="90000"/>
              </a:schemeClr>
              <a:schemeClr val="phClr">
                <a:shade val="92000"/>
              </a:schemeClr>
            </a:duotone>
          </a:blip>
          <a:tile tx="0" ty="0" sx="100000" sy="10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Perspective</Template>
  <TotalTime>5809</TotalTime>
  <Words>2027</Words>
  <Application>Microsoft Office PowerPoint</Application>
  <PresentationFormat>On-screen Show (4:3)</PresentationFormat>
  <Paragraphs>175</Paragraphs>
  <Slides>32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vt:i4>
      </vt:variant>
    </vt:vector>
  </HeadingPairs>
  <TitlesOfParts>
    <vt:vector size="36" baseType="lpstr">
      <vt:lpstr>Arial</vt:lpstr>
      <vt:lpstr>Times New Roman</vt:lpstr>
      <vt:lpstr>Wingdings</vt:lpstr>
      <vt:lpstr>Perspective</vt:lpstr>
      <vt:lpstr>PowerPoint Presentation</vt:lpstr>
      <vt:lpstr>“Disease Prediction Using ML- Lung Cancer Detection and Classification Using Efficient Net”</vt:lpstr>
      <vt:lpstr>Contents</vt:lpstr>
      <vt:lpstr>Introduction</vt:lpstr>
      <vt:lpstr>Motivation</vt:lpstr>
      <vt:lpstr>Problem Statement</vt:lpstr>
      <vt:lpstr>Objective</vt:lpstr>
      <vt:lpstr>Existing System</vt:lpstr>
      <vt:lpstr>Literature Survey</vt:lpstr>
      <vt:lpstr>PowerPoint Presentation</vt:lpstr>
      <vt:lpstr>Software</vt:lpstr>
      <vt:lpstr>Project Scope</vt:lpstr>
      <vt:lpstr>FLOW CHART</vt:lpstr>
      <vt:lpstr>Algorithms</vt:lpstr>
      <vt:lpstr>BLOCK DIAGRAM</vt:lpstr>
      <vt:lpstr>DFD 0</vt:lpstr>
      <vt:lpstr>DFD 1</vt:lpstr>
      <vt:lpstr>DFD 2</vt:lpstr>
      <vt:lpstr>WORK FLOW</vt:lpstr>
      <vt:lpstr>ACTIVITY</vt:lpstr>
      <vt:lpstr>CLASS DIAGRAM</vt:lpstr>
      <vt:lpstr>SEQUENCE</vt:lpstr>
      <vt:lpstr>USECASE</vt:lpstr>
      <vt:lpstr>Implementation (I/P Image)</vt:lpstr>
      <vt:lpstr>Implementation (O/P Image)</vt:lpstr>
      <vt:lpstr>Implementation (O/P Image)</vt:lpstr>
      <vt:lpstr>Implementation (O/P Image)</vt:lpstr>
      <vt:lpstr>Advantages</vt:lpstr>
      <vt:lpstr>FUTURE SCOPE</vt:lpstr>
      <vt:lpstr>EXPECTED OUTCOMES</vt:lpstr>
      <vt:lpstr>References</vt:lpstr>
      <vt:lpstr>THANK YOU</vt:lpstr>
    </vt:vector>
  </TitlesOfParts>
  <LinksUpToDate>false</LinksUpToDate>
  <SharedDoc>false</SharedDoc>
  <HyperlinkBase/>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technowings</dc:creator>
  <dc:description>generated using python-pptx</dc:description>
  <cp:lastModifiedBy>Microsoft account</cp:lastModifiedBy>
  <cp:revision>107</cp:revision>
  <dcterms:created xsi:type="dcterms:W3CDTF">2013-01-27T09:14:16Z</dcterms:created>
  <dcterms:modified xsi:type="dcterms:W3CDTF">2021-06-14T07:26:30Z</dcterms:modified>
</cp:coreProperties>
</file>